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150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09992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2247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4237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3146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5165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26670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76995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43803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98468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67116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9872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318481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6336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48834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0812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35991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1536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9/9/2026</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9250591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Python for Data Handling &amp; AI Applications</a:t>
            </a:r>
          </a:p>
        </p:txBody>
      </p:sp>
      <p:sp>
        <p:nvSpPr>
          <p:cNvPr id="3" name="Subtitle 2"/>
          <p:cNvSpPr>
            <a:spLocks noGrp="1"/>
          </p:cNvSpPr>
          <p:nvPr>
            <p:ph type="subTitle" idx="1"/>
          </p:nvPr>
        </p:nvSpPr>
        <p:spPr/>
        <p:txBody>
          <a:bodyPr>
            <a:normAutofit fontScale="85000" lnSpcReduction="10000"/>
          </a:bodyPr>
          <a:lstStyle/>
          <a:p>
            <a:r>
              <a:t>Modules 10-19: From Data Analysis to Generative AI</a:t>
            </a:r>
          </a:p>
          <a:p>
            <a:r>
              <a:t>Comprehensive Course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Module 10: Python for Data Handling</a:t>
            </a:r>
          </a:p>
        </p:txBody>
      </p:sp>
      <p:sp>
        <p:nvSpPr>
          <p:cNvPr id="3" name="Content Placeholder 2"/>
          <p:cNvSpPr>
            <a:spLocks noGrp="1"/>
          </p:cNvSpPr>
          <p:nvPr>
            <p:ph idx="1"/>
          </p:nvPr>
        </p:nvSpPr>
        <p:spPr/>
        <p:txBody>
          <a:bodyPr/>
          <a:lstStyle/>
          <a:p>
            <a:pPr>
              <a:defRPr sz="1800"/>
            </a:pPr>
            <a:r>
              <a:t>• NumPy Introduction: The foundational library for numerical computing in Python.</a:t>
            </a:r>
          </a:p>
          <a:p>
            <a:pPr>
              <a:defRPr sz="1800"/>
            </a:pPr>
            <a:r>
              <a:t>• Arrays &amp; Dimensions: Creating 1D, 2D, and N-dimensional arrays (ndarrays).</a:t>
            </a:r>
          </a:p>
          <a:p>
            <a:pPr>
              <a:defRPr sz="1800"/>
            </a:pPr>
            <a:r>
              <a:t>• Indexing &amp; Slicing: Efficiently accessing and modifying array elements.</a:t>
            </a:r>
          </a:p>
          <a:p>
            <a:pPr>
              <a:defRPr sz="1800"/>
            </a:pPr>
            <a:r>
              <a:t>• Vectorized Operations: Performing math on entire arrays without slow for-loops (broadcasting).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Module 11: Data Analysis with Pandas</a:t>
            </a:r>
          </a:p>
        </p:txBody>
      </p:sp>
      <p:sp>
        <p:nvSpPr>
          <p:cNvPr id="3" name="Content Placeholder 2"/>
          <p:cNvSpPr>
            <a:spLocks noGrp="1"/>
          </p:cNvSpPr>
          <p:nvPr>
            <p:ph idx="1"/>
          </p:nvPr>
        </p:nvSpPr>
        <p:spPr>
          <a:xfrm>
            <a:off x="457200" y="1817914"/>
            <a:ext cx="8229600" cy="4308249"/>
          </a:xfrm>
        </p:spPr>
        <p:txBody>
          <a:bodyPr>
            <a:normAutofit fontScale="92500" lnSpcReduction="20000"/>
          </a:bodyPr>
          <a:lstStyle/>
          <a:p>
            <a:pPr marL="0" indent="0">
              <a:buNone/>
              <a:defRPr sz="1800"/>
            </a:pPr>
            <a:r>
              <a:rPr lang="en-US" sz="2000" b="1" dirty="0"/>
              <a:t>Pandas</a:t>
            </a:r>
            <a:r>
              <a:rPr lang="en-US" sz="2000" dirty="0"/>
              <a:t> is a highly popular, open-source Python library used primarily for data manipulation, data analysis, and data cleaning. It provides fast, flexible, and expressive data structures designed to make working with "relational" or "labeled" data intuitive and easy. Think of it as a supercharged version of Microsoft Excel or SQL tables living right inside your Python environment. </a:t>
            </a:r>
          </a:p>
          <a:p>
            <a:pPr marL="0" indent="0">
              <a:buNone/>
              <a:defRPr sz="1800"/>
            </a:pPr>
            <a:endParaRPr lang="en-US" sz="2000" dirty="0"/>
          </a:p>
          <a:p>
            <a:pPr marL="0" indent="0">
              <a:buNone/>
              <a:defRPr sz="1800"/>
            </a:pPr>
            <a:r>
              <a:rPr sz="2000" dirty="0"/>
              <a:t>• Core Structures: Series (1D) and </a:t>
            </a:r>
            <a:r>
              <a:rPr sz="2000" dirty="0" err="1"/>
              <a:t>DataFrames</a:t>
            </a:r>
            <a:r>
              <a:rPr sz="2000" dirty="0"/>
              <a:t> (2D) for structured data.</a:t>
            </a:r>
          </a:p>
          <a:p>
            <a:pPr marL="0" indent="0">
              <a:buNone/>
              <a:defRPr sz="1800"/>
            </a:pPr>
            <a:r>
              <a:rPr sz="2000" dirty="0"/>
              <a:t>• Data Ingestion: Reading data using </a:t>
            </a:r>
            <a:r>
              <a:rPr sz="2000" dirty="0" err="1"/>
              <a:t>read_csv</a:t>
            </a:r>
            <a:r>
              <a:rPr sz="2000" dirty="0"/>
              <a:t>() and </a:t>
            </a:r>
            <a:r>
              <a:rPr sz="2000" dirty="0" err="1"/>
              <a:t>read_json</a:t>
            </a:r>
            <a:r>
              <a:rPr sz="2000" dirty="0"/>
              <a:t>().</a:t>
            </a:r>
          </a:p>
          <a:p>
            <a:pPr marL="0" indent="0">
              <a:buNone/>
              <a:defRPr sz="1800"/>
            </a:pPr>
            <a:r>
              <a:rPr sz="2000" dirty="0"/>
              <a:t>• Data Manipulation: Filtering rows, sorting values, and selecting columns.</a:t>
            </a:r>
          </a:p>
          <a:p>
            <a:pPr marL="0" indent="0">
              <a:buNone/>
              <a:defRPr sz="1800"/>
            </a:pPr>
            <a:r>
              <a:rPr sz="2000" dirty="0"/>
              <a:t>• Data Cleaning: Handling missing data (</a:t>
            </a:r>
            <a:r>
              <a:rPr sz="2000" dirty="0" err="1"/>
              <a:t>dropna</a:t>
            </a:r>
            <a:r>
              <a:rPr sz="2000" dirty="0"/>
              <a:t>, </a:t>
            </a:r>
            <a:r>
              <a:rPr sz="2000" dirty="0" err="1"/>
              <a:t>fillna</a:t>
            </a:r>
            <a:r>
              <a:rPr sz="2000" dirty="0"/>
              <a:t>) and basic transformations (apply, </a:t>
            </a:r>
            <a:r>
              <a:rPr sz="2000" dirty="0" err="1"/>
              <a:t>groupby</a:t>
            </a:r>
            <a:r>
              <a:rPr sz="20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96219"/>
          </a:xfrm>
        </p:spPr>
        <p:txBody>
          <a:bodyPr>
            <a:normAutofit fontScale="90000"/>
          </a:bodyPr>
          <a:lstStyle/>
          <a:p>
            <a:r>
              <a:rPr dirty="0"/>
              <a:t>Module 12: Data Visualization</a:t>
            </a:r>
          </a:p>
        </p:txBody>
      </p:sp>
      <p:sp>
        <p:nvSpPr>
          <p:cNvPr id="3" name="Content Placeholder 2"/>
          <p:cNvSpPr>
            <a:spLocks noGrp="1"/>
          </p:cNvSpPr>
          <p:nvPr>
            <p:ph idx="1"/>
          </p:nvPr>
        </p:nvSpPr>
        <p:spPr>
          <a:xfrm>
            <a:off x="457200" y="1066800"/>
            <a:ext cx="8229600" cy="5516562"/>
          </a:xfrm>
        </p:spPr>
        <p:txBody>
          <a:bodyPr>
            <a:noAutofit/>
          </a:bodyPr>
          <a:lstStyle/>
          <a:p>
            <a:pPr marL="0" indent="0">
              <a:buNone/>
              <a:defRPr sz="1800"/>
            </a:pPr>
            <a:r>
              <a:rPr lang="en-US" sz="1600" b="1" dirty="0"/>
              <a:t>Data visualization</a:t>
            </a:r>
            <a:r>
              <a:rPr lang="en-US" sz="1600" dirty="0"/>
              <a:t> is the practice of translating raw data into visual representations—such as charts, graphs, maps, and infographics—to make information easier for the human brain to understand.</a:t>
            </a:r>
          </a:p>
          <a:p>
            <a:pPr marL="0" indent="0">
              <a:buNone/>
              <a:defRPr sz="1800"/>
            </a:pPr>
            <a:r>
              <a:rPr lang="en-US" sz="1600" b="1" dirty="0"/>
              <a:t>Data Visualization Important?</a:t>
            </a:r>
          </a:p>
          <a:p>
            <a:pPr lvl="0"/>
            <a:r>
              <a:rPr lang="en-US" sz="1600" b="1" dirty="0"/>
              <a:t>Speeds up Comprehension:</a:t>
            </a:r>
            <a:r>
              <a:rPr lang="en-US" sz="1600" dirty="0"/>
              <a:t> The human brain processes visual information much faster than written text or long tables of numbers.</a:t>
            </a:r>
          </a:p>
          <a:p>
            <a:pPr lvl="0"/>
            <a:r>
              <a:rPr lang="en-US" sz="1600" b="1" dirty="0"/>
              <a:t>Identifies Patterns &amp; Trends:</a:t>
            </a:r>
            <a:r>
              <a:rPr lang="en-US" sz="1600" dirty="0"/>
              <a:t> It allows businesses and researchers to see shifting behaviors, market changes, or operational bottlenecks instantly.</a:t>
            </a:r>
          </a:p>
          <a:p>
            <a:pPr lvl="0"/>
            <a:r>
              <a:rPr lang="en-US" sz="1600" b="1" dirty="0"/>
              <a:t>Simplifies Decision-Making:</a:t>
            </a:r>
            <a:r>
              <a:rPr lang="en-US" sz="1600" dirty="0"/>
              <a:t> Executives and stakeholders can grasp the "big picture" from a single dashboard rather than reading hundreds of pages of reports.</a:t>
            </a:r>
          </a:p>
          <a:p>
            <a:pPr lvl="0"/>
            <a:r>
              <a:rPr lang="en-US" sz="1600" b="1" dirty="0"/>
              <a:t>Tells a Story:</a:t>
            </a:r>
            <a:r>
              <a:rPr lang="en-US" sz="1600" dirty="0"/>
              <a:t> A well-designed chart highlights the narrative behind the numbers, making it highly persuasive and easy to share.</a:t>
            </a:r>
          </a:p>
          <a:p>
            <a:pPr marL="0" indent="0">
              <a:buNone/>
              <a:defRPr sz="1800"/>
            </a:pPr>
            <a:r>
              <a:rPr sz="1600" dirty="0"/>
              <a:t>• Matplotlib Basics: Importing </a:t>
            </a:r>
            <a:r>
              <a:rPr sz="1600" dirty="0" err="1"/>
              <a:t>pyplot</a:t>
            </a:r>
            <a:r>
              <a:rPr sz="1600" dirty="0"/>
              <a:t> and creating figures/axes.</a:t>
            </a:r>
          </a:p>
          <a:p>
            <a:pPr marL="0" indent="0">
              <a:buNone/>
              <a:defRPr sz="1800"/>
            </a:pPr>
            <a:r>
              <a:rPr sz="1600" dirty="0"/>
              <a:t>• Plots &amp; Charts: Creating line, scatter, bar, and histogram plots.</a:t>
            </a:r>
          </a:p>
          <a:p>
            <a:pPr marL="0" indent="0">
              <a:buNone/>
              <a:defRPr sz="1800"/>
            </a:pPr>
            <a:r>
              <a:rPr sz="1600" dirty="0"/>
              <a:t>• Customization: Adding titles, x/y labels, legends, and adjusting colors.</a:t>
            </a:r>
          </a:p>
          <a:p>
            <a:pPr marL="0" indent="0">
              <a:buNone/>
              <a:defRPr sz="1800"/>
            </a:pPr>
            <a:r>
              <a:rPr sz="1600" dirty="0"/>
              <a:t>• Interpretation: Analyzing visualizations to identify trends, outliers, and correlations.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Module 13: Working with APIs &amp; JSON</a:t>
            </a:r>
          </a:p>
        </p:txBody>
      </p:sp>
      <p:sp>
        <p:nvSpPr>
          <p:cNvPr id="3" name="Content Placeholder 2"/>
          <p:cNvSpPr>
            <a:spLocks noGrp="1"/>
          </p:cNvSpPr>
          <p:nvPr>
            <p:ph idx="1"/>
          </p:nvPr>
        </p:nvSpPr>
        <p:spPr/>
        <p:txBody>
          <a:bodyPr/>
          <a:lstStyle/>
          <a:p>
            <a:pPr>
              <a:defRPr sz="1800"/>
            </a:pPr>
            <a:r>
              <a:t>• HTTP Basics: Understanding GET, POST, PUT, DELETE methods and status codes.</a:t>
            </a:r>
          </a:p>
          <a:p>
            <a:pPr>
              <a:defRPr sz="1800"/>
            </a:pPr>
            <a:r>
              <a:t>• REST APIs: Architectural style for web services; stateless communication.</a:t>
            </a:r>
          </a:p>
          <a:p>
            <a:pPr>
              <a:defRPr sz="1800"/>
            </a:pPr>
            <a:r>
              <a:t>• The 'requests' Library: Making HTTP calls and handling responses in Python.</a:t>
            </a:r>
          </a:p>
          <a:p>
            <a:pPr>
              <a:defRPr sz="1800"/>
            </a:pPr>
            <a:r>
              <a:t>• JSON Parsing: Using the json module to parse API responses and consume AI services.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Module 14: Python Environment &amp; AI Libraries</a:t>
            </a:r>
          </a:p>
        </p:txBody>
      </p:sp>
      <p:sp>
        <p:nvSpPr>
          <p:cNvPr id="3" name="Content Placeholder 2"/>
          <p:cNvSpPr>
            <a:spLocks noGrp="1"/>
          </p:cNvSpPr>
          <p:nvPr>
            <p:ph idx="1"/>
          </p:nvPr>
        </p:nvSpPr>
        <p:spPr/>
        <p:txBody>
          <a:bodyPr/>
          <a:lstStyle/>
          <a:p>
            <a:pPr>
              <a:defRPr sz="1800"/>
            </a:pPr>
            <a:r>
              <a:t>• Virtual Environments: Using 'venv' to isolate project dependencies.</a:t>
            </a:r>
          </a:p>
          <a:p>
            <a:pPr>
              <a:defRPr sz="1800"/>
            </a:pPr>
            <a:r>
              <a:t>• Dependency Management: Installing packages via 'pip' and freezing them.</a:t>
            </a:r>
          </a:p>
          <a:p>
            <a:pPr>
              <a:defRPr sz="1800"/>
            </a:pPr>
            <a:r>
              <a:t>• Requirements Files: Using requirements.txt to ensure reproducible environments.</a:t>
            </a:r>
          </a:p>
          <a:p>
            <a:pPr>
              <a:defRPr sz="1800"/>
            </a:pPr>
            <a:r>
              <a:t>• AI/ML Libraries: Introduction to Scikit-learn, TensorFlow, PyTorch, and HuggingFace.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452718"/>
            <a:ext cx="7055380" cy="1201911"/>
          </a:xfrm>
        </p:spPr>
        <p:txBody>
          <a:bodyPr>
            <a:normAutofit fontScale="90000"/>
          </a:bodyPr>
          <a:lstStyle/>
          <a:p>
            <a:r>
              <a:rPr dirty="0"/>
              <a:t>Module 15: Python for AI Applications</a:t>
            </a:r>
          </a:p>
        </p:txBody>
      </p:sp>
      <p:sp>
        <p:nvSpPr>
          <p:cNvPr id="3" name="Content Placeholder 2"/>
          <p:cNvSpPr>
            <a:spLocks noGrp="1"/>
          </p:cNvSpPr>
          <p:nvPr>
            <p:ph idx="1"/>
          </p:nvPr>
        </p:nvSpPr>
        <p:spPr/>
        <p:txBody>
          <a:bodyPr/>
          <a:lstStyle/>
          <a:p>
            <a:pPr>
              <a:defRPr sz="1800"/>
            </a:pPr>
            <a:r>
              <a:t>• The AI Workflow: A structured pipeline for building AI apps.</a:t>
            </a:r>
          </a:p>
          <a:p>
            <a:pPr>
              <a:defRPr sz="1800"/>
            </a:pPr>
            <a:r>
              <a:t>• 1. Data Ingestion: Gathering raw data from files or APIs.</a:t>
            </a:r>
          </a:p>
          <a:p>
            <a:pPr>
              <a:defRPr sz="1800"/>
            </a:pPr>
            <a:r>
              <a:t>• 2. Preprocessing: Cleaning, normalizing, and formatting data for models.</a:t>
            </a:r>
          </a:p>
          <a:p>
            <a:pPr>
              <a:defRPr sz="1800"/>
            </a:pPr>
            <a:r>
              <a:t>• 3. Model/API Execution: Passing data to an ML model or GenAI API.</a:t>
            </a:r>
          </a:p>
          <a:p>
            <a:pPr>
              <a:defRPr sz="1800"/>
            </a:pPr>
            <a:r>
              <a:t>• 4. Response &amp; Integration: Parsing the output and building the final application UI/Logic.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Module 16: Introduction to Machine Learning</a:t>
            </a:r>
          </a:p>
        </p:txBody>
      </p:sp>
      <p:sp>
        <p:nvSpPr>
          <p:cNvPr id="3" name="Content Placeholder 2"/>
          <p:cNvSpPr>
            <a:spLocks noGrp="1"/>
          </p:cNvSpPr>
          <p:nvPr>
            <p:ph idx="1"/>
          </p:nvPr>
        </p:nvSpPr>
        <p:spPr/>
        <p:txBody>
          <a:bodyPr/>
          <a:lstStyle/>
          <a:p>
            <a:pPr>
              <a:defRPr sz="1800"/>
            </a:pPr>
            <a:r>
              <a:t>• AI vs ML vs Deep Learning: AI (broad), ML (learning from data), DL (neural networks).</a:t>
            </a:r>
          </a:p>
          <a:p>
            <a:pPr>
              <a:defRPr sz="1800"/>
            </a:pPr>
            <a:r>
              <a:t>• Supervised Learning: Training on labeled data (Features X → Labels y).</a:t>
            </a:r>
          </a:p>
          <a:p>
            <a:pPr>
              <a:defRPr sz="1800"/>
            </a:pPr>
            <a:r>
              <a:t>• Unsupervised Learning: Finding hidden patterns in unlabeled data (clustering).</a:t>
            </a:r>
          </a:p>
          <a:p>
            <a:pPr>
              <a:defRPr sz="1800"/>
            </a:pPr>
            <a:r>
              <a:t>• Basic Workflow: Data split (train/test) → Model selection → Training → Evaluation.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Module 17: Generative AI with Python</a:t>
            </a:r>
          </a:p>
        </p:txBody>
      </p:sp>
      <p:sp>
        <p:nvSpPr>
          <p:cNvPr id="3" name="Content Placeholder 2"/>
          <p:cNvSpPr>
            <a:spLocks noGrp="1"/>
          </p:cNvSpPr>
          <p:nvPr>
            <p:ph idx="1"/>
          </p:nvPr>
        </p:nvSpPr>
        <p:spPr/>
        <p:txBody>
          <a:bodyPr/>
          <a:lstStyle/>
          <a:p>
            <a:pPr>
              <a:defRPr sz="1800"/>
            </a:pPr>
            <a:r>
              <a:t>• LLM Concepts: Understanding Large Language Models and tokenization.</a:t>
            </a:r>
          </a:p>
          <a:p>
            <a:pPr>
              <a:defRPr sz="1800"/>
            </a:pPr>
            <a:r>
              <a:t>• Prompt Engineering: Crafting effective system and user prompts.</a:t>
            </a:r>
          </a:p>
          <a:p>
            <a:pPr>
              <a:defRPr sz="1800"/>
            </a:pPr>
            <a:r>
              <a:t>• API Interaction: Sending prompts to OpenAI/Anthropic via Python 'requests'.</a:t>
            </a:r>
          </a:p>
          <a:p>
            <a:pPr>
              <a:defRPr sz="1800"/>
            </a:pPr>
            <a:r>
              <a:t>• Processing Responses: Handling streaming text, JSON modes, and extracting structured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Module 18: Mini Project - Python AI Assistant</a:t>
            </a:r>
          </a:p>
        </p:txBody>
      </p:sp>
      <p:sp>
        <p:nvSpPr>
          <p:cNvPr id="3" name="Content Placeholder 2"/>
          <p:cNvSpPr>
            <a:spLocks noGrp="1"/>
          </p:cNvSpPr>
          <p:nvPr>
            <p:ph idx="1"/>
          </p:nvPr>
        </p:nvSpPr>
        <p:spPr/>
        <p:txBody>
          <a:bodyPr/>
          <a:lstStyle/>
          <a:p>
            <a:pPr>
              <a:defRPr sz="1800"/>
            </a:pPr>
            <a:r>
              <a:t>• Project Goal: Build a functional CLI/Python AI Assistant.</a:t>
            </a:r>
          </a:p>
          <a:p>
            <a:pPr>
              <a:defRPr sz="1800"/>
            </a:pPr>
            <a:r>
              <a:t>• Architecture: Combining data processing, API calls, and modular functions.</a:t>
            </a:r>
          </a:p>
          <a:p>
            <a:pPr>
              <a:defRPr sz="1800"/>
            </a:pPr>
            <a:r>
              <a:t>• Implementation: Fetching data → Processing with Pandas → Querying GenAI.</a:t>
            </a:r>
          </a:p>
          <a:p>
            <a:pPr>
              <a:defRPr sz="1800"/>
            </a:pPr>
            <a:r>
              <a:t>• Output: Generating dynamic, context-aware responses for the user.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19: Assessment &amp; Wrap-up</a:t>
            </a:r>
          </a:p>
        </p:txBody>
      </p:sp>
      <p:sp>
        <p:nvSpPr>
          <p:cNvPr id="3" name="Content Placeholder 2"/>
          <p:cNvSpPr>
            <a:spLocks noGrp="1"/>
          </p:cNvSpPr>
          <p:nvPr>
            <p:ph idx="1"/>
          </p:nvPr>
        </p:nvSpPr>
        <p:spPr/>
        <p:txBody>
          <a:bodyPr/>
          <a:lstStyle/>
          <a:p>
            <a:pPr>
              <a:defRPr sz="1800"/>
            </a:pPr>
            <a:r>
              <a:t>• Coding Challenge: Clean a messy dataset and perform exploratory analysis.</a:t>
            </a:r>
          </a:p>
          <a:p>
            <a:pPr>
              <a:defRPr sz="1800"/>
            </a:pPr>
            <a:r>
              <a:t>• Troubleshooting Exercise: Debug a broken API call or ML pipeline.</a:t>
            </a:r>
          </a:p>
          <a:p>
            <a:pPr>
              <a:defRPr sz="1800"/>
            </a:pPr>
            <a:r>
              <a:t>• Knowledge Check: Quiz on AI concepts, Pandas syntax, and HTTP methods.</a:t>
            </a:r>
          </a:p>
          <a:p>
            <a:pPr>
              <a:defRPr sz="1800"/>
            </a:pPr>
            <a:r>
              <a:t>• Next Steps: Best practices for production code and advanced learning paths.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Connecting the Dots: The Data-to-AI Pipeline</a:t>
            </a:r>
          </a:p>
        </p:txBody>
      </p:sp>
      <p:sp>
        <p:nvSpPr>
          <p:cNvPr id="3" name="Content Placeholder 2"/>
          <p:cNvSpPr>
            <a:spLocks noGrp="1"/>
          </p:cNvSpPr>
          <p:nvPr>
            <p:ph idx="1"/>
          </p:nvPr>
        </p:nvSpPr>
        <p:spPr/>
        <p:txBody>
          <a:bodyPr/>
          <a:lstStyle/>
          <a:p>
            <a:pPr>
              <a:defRPr sz="1800"/>
            </a:pPr>
            <a:r>
              <a:t>• Data Foundation (Mod 10-12): NumPy and Pandas clean the data; Matplotlib visualizes it.</a:t>
            </a:r>
          </a:p>
          <a:p>
            <a:pPr>
              <a:defRPr sz="1800"/>
            </a:pPr>
            <a:r>
              <a:t>• Infrastructure (Mod 13-14): Virtual environments keep it stable; APIs fetch external data.</a:t>
            </a:r>
          </a:p>
          <a:p>
            <a:pPr>
              <a:defRPr sz="1800"/>
            </a:pPr>
            <a:r>
              <a:t>• Intelligence (Mod 15-17): The cleaned data feeds into ML models (predictions) or LLMs (generation).</a:t>
            </a:r>
          </a:p>
          <a:p>
            <a:pPr>
              <a:defRPr sz="1800"/>
            </a:pPr>
            <a:r>
              <a:t>• Application (Mod 18-19): All components are wrapped into a robust, tested AI Assistant.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Best Practices for Python AI Development</a:t>
            </a:r>
          </a:p>
        </p:txBody>
      </p:sp>
      <p:sp>
        <p:nvSpPr>
          <p:cNvPr id="3" name="Content Placeholder 2"/>
          <p:cNvSpPr>
            <a:spLocks noGrp="1"/>
          </p:cNvSpPr>
          <p:nvPr>
            <p:ph idx="1"/>
          </p:nvPr>
        </p:nvSpPr>
        <p:spPr/>
        <p:txBody>
          <a:bodyPr/>
          <a:lstStyle/>
          <a:p>
            <a:pPr>
              <a:defRPr sz="1800"/>
            </a:pPr>
            <a:r>
              <a:t>• Code Modularity: Use functions and classes to separate data, logic, and API calls.</a:t>
            </a:r>
          </a:p>
          <a:p>
            <a:pPr>
              <a:defRPr sz="1800"/>
            </a:pPr>
            <a:r>
              <a:t>• Error Handling: Always use try/except blocks for API calls and file I/O.</a:t>
            </a:r>
          </a:p>
          <a:p>
            <a:pPr>
              <a:defRPr sz="1800"/>
            </a:pPr>
            <a:r>
              <a:t>• Security: Never hardcode API keys; use environment variables (.env).</a:t>
            </a:r>
          </a:p>
          <a:p>
            <a:pPr>
              <a:defRPr sz="1800"/>
            </a:pPr>
            <a:r>
              <a:t>• Performance: Use vectorized NumPy/Pandas operations instead of iterative loops.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Course Summary</a:t>
            </a:r>
          </a:p>
        </p:txBody>
      </p:sp>
      <p:sp>
        <p:nvSpPr>
          <p:cNvPr id="3" name="Content Placeholder 2"/>
          <p:cNvSpPr>
            <a:spLocks noGrp="1"/>
          </p:cNvSpPr>
          <p:nvPr>
            <p:ph idx="1"/>
          </p:nvPr>
        </p:nvSpPr>
        <p:spPr/>
        <p:txBody>
          <a:bodyPr/>
          <a:lstStyle/>
          <a:p>
            <a:pPr>
              <a:defRPr sz="1800"/>
            </a:pPr>
            <a:r>
              <a:t>• Mastered Python data manipulation with NumPy and Pandas.</a:t>
            </a:r>
          </a:p>
          <a:p>
            <a:pPr>
              <a:defRPr sz="1800"/>
            </a:pPr>
            <a:r>
              <a:t>• Created insightful visualizations using Matplotlib.</a:t>
            </a:r>
          </a:p>
          <a:p>
            <a:pPr>
              <a:defRPr sz="1800"/>
            </a:pPr>
            <a:r>
              <a:t>• Integrated external data and AI services via REST APIs and JSON.</a:t>
            </a:r>
          </a:p>
          <a:p>
            <a:pPr>
              <a:defRPr sz="1800"/>
            </a:pPr>
            <a:r>
              <a:t>• Built a complete pipeline from data preprocessing to Machine Learning and Generative AI applications.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Case Study: 'SmartRetail AI' End-to-End Assistant</a:t>
            </a:r>
          </a:p>
        </p:txBody>
      </p:sp>
      <p:sp>
        <p:nvSpPr>
          <p:cNvPr id="3" name="Content Placeholder 2"/>
          <p:cNvSpPr>
            <a:spLocks noGrp="1"/>
          </p:cNvSpPr>
          <p:nvPr>
            <p:ph idx="1"/>
          </p:nvPr>
        </p:nvSpPr>
        <p:spPr/>
        <p:txBody>
          <a:bodyPr>
            <a:normAutofit lnSpcReduction="10000"/>
          </a:bodyPr>
          <a:lstStyle/>
          <a:p>
            <a:pPr>
              <a:defRPr sz="1800"/>
            </a:pPr>
            <a:r>
              <a:t>• Scenario: Build an AI assistant that analyzes retail sales, predicts trends, and summarizes insights.</a:t>
            </a:r>
          </a:p>
          <a:p>
            <a:pPr>
              <a:defRPr sz="1800"/>
            </a:pPr>
            <a:r>
              <a:t>• Data &amp; Viz (Mod 10-12): Use Pandas to clean sales CSVs; NumPy for math; Matplotlib to plot monthly revenue.</a:t>
            </a:r>
          </a:p>
          <a:p>
            <a:pPr>
              <a:defRPr sz="1800"/>
            </a:pPr>
            <a:r>
              <a:t>• APIs &amp; Env (Mod 13-14): Use a venv; fetch live currency exchange rates via a REST API using 'requests'.</a:t>
            </a:r>
          </a:p>
          <a:p>
            <a:pPr>
              <a:defRPr sz="1800"/>
            </a:pPr>
            <a:r>
              <a:t>• AI &amp; ML (Mod 15-17): Preprocess data. Use Scikit-learn (ML) to predict next month's sales. Send top-selling items to an LLM API (GenAI) to generate an executive summary.</a:t>
            </a:r>
          </a:p>
          <a:p>
            <a:pPr>
              <a:defRPr sz="1800"/>
            </a:pPr>
            <a:r>
              <a:t>• Project &amp; Assessment (Mod 18-19): Wrap in a CLI Assistant. Implement error handling for API rate limits (troubleshooting) and modularize code.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mokey Glass">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8</TotalTime>
  <Words>1241</Words>
  <Application>Microsoft Office PowerPoint</Application>
  <PresentationFormat>On-screen Show (4:3)</PresentationFormat>
  <Paragraphs>83</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Century Gothic</vt:lpstr>
      <vt:lpstr>Wingdings 3</vt:lpstr>
      <vt:lpstr>Ion</vt:lpstr>
      <vt:lpstr>Python for Data Handling &amp; AI Applications</vt:lpstr>
      <vt:lpstr>Module 10: Python for Data Handling</vt:lpstr>
      <vt:lpstr>Module 11: Data Analysis with Pandas</vt:lpstr>
      <vt:lpstr>Module 12: Data Visualization</vt:lpstr>
      <vt:lpstr>Module 13: Working with APIs &amp; JSON</vt:lpstr>
      <vt:lpstr>Module 14: Python Environment &amp; AI Libraries</vt:lpstr>
      <vt:lpstr>Module 15: Python for AI Applications</vt:lpstr>
      <vt:lpstr>Module 16: Introduction to Machine Learning</vt:lpstr>
      <vt:lpstr>Module 17: Generative AI with Python</vt:lpstr>
      <vt:lpstr>Module 18: Mini Project - Python AI Assistant</vt:lpstr>
      <vt:lpstr>Module 19: Assessment &amp; Wrap-up</vt:lpstr>
      <vt:lpstr>Connecting the Dots: The Data-to-AI Pipeline</vt:lpstr>
      <vt:lpstr>Best Practices for Python AI Development</vt:lpstr>
      <vt:lpstr>Course Summary</vt:lpstr>
      <vt:lpstr>Case Study: 'SmartRetail AI' End-to-End Assistant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hp</cp:lastModifiedBy>
  <cp:revision>9</cp:revision>
  <dcterms:created xsi:type="dcterms:W3CDTF">2013-01-27T09:14:16Z</dcterms:created>
  <dcterms:modified xsi:type="dcterms:W3CDTF">2026-09-09T05:06:36Z</dcterms:modified>
  <cp:category/>
</cp:coreProperties>
</file>