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4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8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7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8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2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3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09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9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7682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24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14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17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2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59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8171" y="2130425"/>
            <a:ext cx="8556171" cy="1470025"/>
          </a:xfrm>
        </p:spPr>
        <p:txBody>
          <a:bodyPr/>
          <a:lstStyle/>
          <a:p>
            <a:r>
              <a:rPr sz="6000" dirty="0"/>
              <a:t>Generative </a:t>
            </a:r>
            <a:r>
              <a:rPr sz="5400" dirty="0"/>
              <a:t>Adversarial Networks (GANs)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9013371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From Foundations to Frontiers</a:t>
            </a:r>
          </a:p>
          <a:p>
            <a:r>
              <a:rPr dirty="0"/>
              <a:t>A Deep Technical Exploration of AI, </a:t>
            </a:r>
            <a:r>
              <a:rPr sz="1200" dirty="0"/>
              <a:t>Generative</a:t>
            </a:r>
            <a:r>
              <a:rPr dirty="0"/>
              <a:t> Models &amp; Adversarial Training</a:t>
            </a:r>
          </a:p>
          <a:p>
            <a:r>
              <a:rPr dirty="0"/>
              <a:t>Presented by: </a:t>
            </a:r>
            <a:r>
              <a:rPr lang="en-US" dirty="0"/>
              <a:t>Nishi Verma </a:t>
            </a:r>
            <a:endParaRPr dirty="0"/>
          </a:p>
          <a:p>
            <a:r>
              <a:rPr dirty="0"/>
              <a:t>September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Turing's Operational Definition (1950): A system exhibits intelligence if its behavior is indistinguishable from a human's.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Modern Formal Definition: AI = The engineering of autonomous agents that perceive environments, reason over observations, and act to maximize expected utility.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Three Paradigms of AI: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1. Symbolic / GOFAI: Logic, rules, expert systems (1950s–1980s)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2. Connectionist / Statistical: Neural networks, probabilistic models (1980s–2010s)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3. Foundation Model Era: Large-scale self-supervised pretraining + adaptation (2020s–present)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Mathematical Framing: AI seeks a mapping f: X → Y optimized under constraints of compute, data, and generalization.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2419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r>
              <a:rPr lang="en-US" sz="3600" dirty="0"/>
              <a:t>The AI Taxonomy — Nested Abstractions</a:t>
            </a:r>
            <a:br>
              <a:rPr lang="en-US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819301"/>
              </p:ext>
            </p:extLst>
          </p:nvPr>
        </p:nvGraphicFramePr>
        <p:xfrm>
          <a:off x="457200" y="137160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1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Core Technique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Example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Any system mimicking cognitive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Rules, search,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Chess engines, Siri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Systems that learn from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Statistical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Random Forests, SVMs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ML using multi-layer neural nets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Backprop + gradient descent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ResNet, Transformer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GenAI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DL models that create new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Likelihood max / adversarial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GPT-4, DALL·E 3, Stable Diffusion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Discriminative vs Generative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Discriminative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Generative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P(Y |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P(X, Y) or 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Decision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Classification,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Sampling, density estimation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Logistic Regression, CNN, 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GAN, VAE, Normalizing Flows, Diffusion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Needs less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Needs more data (learns full distribution)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Theoretical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Bayes decision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Joint probability / likelihood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GAN? (The Core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17172"/>
            <a:ext cx="8946541" cy="4931228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Introduced by Ian Goodfellow et al. (</a:t>
            </a:r>
            <a:r>
              <a:rPr dirty="0" err="1"/>
              <a:t>NeurIPS</a:t>
            </a:r>
            <a:r>
              <a:rPr dirty="0"/>
              <a:t> 2014).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Core Insight: Frames generative modeling as a two-player minimax game between: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Generator (G): Maps noise z ~ P(z) → fake data G(z)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Discriminator (D): Classifies inputs as real x or fake G(z)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Objective Function (Vanilla GAN):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</a:t>
            </a:r>
            <a:r>
              <a:rPr dirty="0" err="1"/>
              <a:t>min_G</a:t>
            </a:r>
            <a:r>
              <a:rPr dirty="0"/>
              <a:t> </a:t>
            </a:r>
            <a:r>
              <a:rPr dirty="0" err="1"/>
              <a:t>max_D</a:t>
            </a:r>
            <a:r>
              <a:rPr dirty="0"/>
              <a:t> V(D,G) = </a:t>
            </a:r>
            <a:r>
              <a:rPr dirty="0" err="1"/>
              <a:t>E_x</a:t>
            </a:r>
            <a:r>
              <a:rPr dirty="0"/>
              <a:t>[log D(x)] + </a:t>
            </a:r>
            <a:r>
              <a:rPr dirty="0" err="1"/>
              <a:t>E_z</a:t>
            </a:r>
            <a:r>
              <a:rPr dirty="0"/>
              <a:t>[log(1 − D(G(z)))]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Nash Equilibrium: At optimum, G produces data indistinguishable from real ⇒ D(x) = 0.5 everywhere ⇒ </a:t>
            </a:r>
            <a:r>
              <a:rPr dirty="0" err="1"/>
              <a:t>P_g</a:t>
            </a:r>
            <a:r>
              <a:rPr dirty="0"/>
              <a:t> = </a:t>
            </a:r>
            <a:r>
              <a:rPr dirty="0" err="1"/>
              <a:t>P_data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Why revolutionary: First framework to generate high-fidelity samples without explicit likelihood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08314"/>
            <a:ext cx="8946541" cy="5040085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Generator (G):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Input: latent vector z ∈ </a:t>
            </a:r>
            <a:r>
              <a:rPr dirty="0" err="1"/>
              <a:t>R^d</a:t>
            </a:r>
            <a:r>
              <a:rPr dirty="0"/>
              <a:t> (sampled from N(0, I))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Architecture: Transposed convolutions or Transformers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Output: synthetic sample G(z) matching data shape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Discriminator (D):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Input: real image x OR fake image G(z)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Architecture: Convolutional stack → flatten → sigmoid/linear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Output: scalar ∈ [0,1] (probability of being real)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Latent Space (Z): A learned manifold where interpolation yields semantically meaningful transitions.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Generator — Learning to Lie Convincingly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Role: Learn a mapping G: Z → X such that P_g ≈ P_data.</a:t>
            </a:r>
          </a:p>
          <a:p>
            <a:pPr>
              <a:spcAft>
                <a:spcPts val="1000"/>
              </a:spcAft>
              <a:defRPr sz="1800"/>
            </a:pPr>
            <a:r>
              <a:t>Key Design Principles:</a:t>
            </a:r>
          </a:p>
          <a:p>
            <a:pPr>
              <a:spcAft>
                <a:spcPts val="1000"/>
              </a:spcAft>
              <a:defRPr sz="1800"/>
            </a:pPr>
            <a:r>
              <a:t>   • Progressive Growing: Start at 4x4, double resolution to stabilize training.</a:t>
            </a:r>
          </a:p>
          <a:p>
            <a:pPr>
              <a:spcAft>
                <a:spcPts val="1000"/>
              </a:spcAft>
              <a:defRPr sz="1800"/>
            </a:pPr>
            <a:r>
              <a:t>   • Style-Based Architecture (StyleGAN): Injects z via AdaIN at every resolution.</a:t>
            </a:r>
          </a:p>
          <a:p>
            <a:pPr>
              <a:spcAft>
                <a:spcPts val="1000"/>
              </a:spcAft>
              <a:defRPr sz="1800"/>
            </a:pPr>
            <a:r>
              <a:t>   • Noise Injection: Stochastic variation at each layer for output diversity.</a:t>
            </a:r>
          </a:p>
          <a:p>
            <a:pPr>
              <a:spcAft>
                <a:spcPts val="1000"/>
              </a:spcAft>
              <a:defRPr sz="1800"/>
            </a:pPr>
            <a:r>
              <a:t>Loss for G (Vanilla): L_G = E_z[log(1 − D(G(z)))] → prone to vanishing gradients.</a:t>
            </a:r>
          </a:p>
          <a:p>
            <a:pPr>
              <a:spcAft>
                <a:spcPts val="1000"/>
              </a:spcAft>
              <a:defRPr sz="1800"/>
            </a:pPr>
            <a:r>
              <a:t>Modern Fix (Non-Saturating): L_G = −E_z[log D(G(z))] — provides stronger gradients.</a:t>
            </a:r>
          </a:p>
          <a:p>
            <a:pPr>
              <a:spcAft>
                <a:spcPts val="1000"/>
              </a:spcAft>
              <a:defRPr sz="1800"/>
            </a:pPr>
            <a:r>
              <a:t>Advanced: In StyleGAN3, generators are equivariant to translation/rotation.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537371" cy="988105"/>
          </a:xfrm>
        </p:spPr>
        <p:txBody>
          <a:bodyPr>
            <a:normAutofit fontScale="90000"/>
          </a:bodyPr>
          <a:lstStyle/>
          <a:p>
            <a:r>
              <a:rPr dirty="0"/>
              <a:t>The Discriminator — The Adversarial Critic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62744"/>
            <a:ext cx="10341429" cy="486342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Role: Estimate how 'real' a sample looks; provide gradient signal to G.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Architectural Choices: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</a:t>
            </a:r>
            <a:r>
              <a:rPr dirty="0" err="1"/>
              <a:t>PatchGAN</a:t>
            </a:r>
            <a:r>
              <a:rPr dirty="0"/>
              <a:t>: Outputs an </a:t>
            </a:r>
            <a:r>
              <a:rPr dirty="0" err="1"/>
              <a:t>NxN</a:t>
            </a:r>
            <a:r>
              <a:rPr dirty="0"/>
              <a:t> map of realism scores (penalizes local texture).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Spectral Normalization: Constrains Lipschitz constant of D.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Gradient Penalty (WGAN-GP): Penalizes ||∇_x D(x)||_2 to enforce 1-Lipschitz.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Loss Variants: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• Vanilla: Binary cross-entropy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• Wasserstein (WGAN): L_D = </a:t>
            </a:r>
            <a:r>
              <a:rPr dirty="0" err="1"/>
              <a:t>E_x</a:t>
            </a:r>
            <a:r>
              <a:rPr dirty="0"/>
              <a:t>[D(x)] − </a:t>
            </a:r>
            <a:r>
              <a:rPr dirty="0" err="1"/>
              <a:t>E_z</a:t>
            </a:r>
            <a:r>
              <a:rPr dirty="0"/>
              <a:t>[D(G(z))] (Earth Mover's Distance)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• Hinge Loss: Used in </a:t>
            </a:r>
            <a:r>
              <a:rPr dirty="0" err="1"/>
              <a:t>BigGAN</a:t>
            </a:r>
            <a:r>
              <a:rPr dirty="0"/>
              <a:t>, SAGAN for better margin enforcement.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744200" cy="944562"/>
          </a:xfrm>
        </p:spPr>
        <p:txBody>
          <a:bodyPr>
            <a:normAutofit fontScale="90000"/>
          </a:bodyPr>
          <a:lstStyle/>
          <a:p>
            <a:r>
              <a:rPr dirty="0"/>
              <a:t>Adversarial Training — The Minimax 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55914"/>
            <a:ext cx="10874829" cy="5070249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Algorithm (per iteration):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1. Sample real batch {x} ~ </a:t>
            </a:r>
            <a:r>
              <a:rPr dirty="0" err="1"/>
              <a:t>P_data</a:t>
            </a:r>
            <a:r>
              <a:rPr dirty="0"/>
              <a:t> and noise {z} ~ P(z)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2. Generate fakes: G(z)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3. Update D (k times): </a:t>
            </a:r>
            <a:r>
              <a:rPr dirty="0" err="1"/>
              <a:t>θ_D</a:t>
            </a:r>
            <a:r>
              <a:rPr dirty="0"/>
              <a:t> ← </a:t>
            </a:r>
            <a:r>
              <a:rPr dirty="0" err="1"/>
              <a:t>θ_D</a:t>
            </a:r>
            <a:r>
              <a:rPr dirty="0"/>
              <a:t> + </a:t>
            </a:r>
            <a:r>
              <a:rPr dirty="0" err="1"/>
              <a:t>η∇_θ</a:t>
            </a:r>
            <a:r>
              <a:rPr dirty="0"/>
              <a:t> [log D(x) + log(1 − D(G(z)))]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4. Update G (once): </a:t>
            </a:r>
            <a:r>
              <a:rPr dirty="0" err="1"/>
              <a:t>θ_G</a:t>
            </a:r>
            <a:r>
              <a:rPr dirty="0"/>
              <a:t> ← </a:t>
            </a:r>
            <a:r>
              <a:rPr dirty="0" err="1"/>
              <a:t>θ_G</a:t>
            </a:r>
            <a:r>
              <a:rPr dirty="0"/>
              <a:t> − </a:t>
            </a:r>
            <a:r>
              <a:rPr dirty="0" err="1"/>
              <a:t>η∇_θ</a:t>
            </a:r>
            <a:r>
              <a:rPr dirty="0"/>
              <a:t> log(1 − D(G(z)))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Critical Training Dynamics: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• Mode Collapse: G produces only a few 'safe' outputs (Mitigated by Mini-batch Discrimination).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• Vanishing Gradients: D is too good early on (Mitigated by WGAN, label smoothing).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• Oscillation: TTUR (Two-Time-Scale Update Rule) makes D learn faster than 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GAN Family Tree — Key Innovations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Vanilla 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Original minimax formulation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DCGAN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Convolutional architecture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Conditional GAN (cGAN)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Condition on class label y: G(z,y), D(x,y)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WGAN / WGAN-GP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Wasserstein distance &amp; Gradient penalty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StyleGAN / BigGAN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Style-based generator, large-scale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StyleGAN2-ADA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Adaptive Discriminator Augmentation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Diffusion + GAN hybrids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Diffusion priors + GAN decoders for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Flow-Matching 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Continuous-time flow + adversarial refinement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688286" cy="1143000"/>
          </a:xfrm>
        </p:spPr>
        <p:txBody>
          <a:bodyPr>
            <a:normAutofit/>
          </a:bodyPr>
          <a:lstStyle/>
          <a:p>
            <a:r>
              <a:rPr sz="3600" dirty="0"/>
              <a:t>Real-World Impact of GANs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🎨 Creative &amp; Media: Photorealistic faces, deepfakes, art generation, style transfer (</a:t>
            </a:r>
            <a:r>
              <a:rPr dirty="0" err="1"/>
              <a:t>CycleGAN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🏥 Healthcare: Synthetic medical images (CT/MRI) for training, anomaly detection, drug molecule generation (</a:t>
            </a:r>
            <a:r>
              <a:rPr dirty="0" err="1"/>
              <a:t>MolGAN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🛰️ Computer Vision: Super-resolution (SRGAN), image inpainting, semantic synthesis (SPADE), domain adaptation.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🔐 Security &amp; Defense: Adversarial example generation for robustness testing, satellite image enhancement.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🎮 Gaming &amp; Metaverse: Procedural texture &amp; asset generation, real-time avatar creation.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📊 Data Augmentation: Oversampling rare classes in imbalanced datasets, tabular data synthesis (CTGAN).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GANs Are Hard — Open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4772"/>
            <a:ext cx="8229600" cy="4961392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⚠️ Training Instability: Mode collapse, vanishing gradients, extreme sensitivity to hyperparameters.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⚠️ Evaluation Difficulty: FID and IS are imperfect proxies; no true likelihood to compare with VAEs/Flows.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⚠️ Lack of Theoretical Guarantees: Convergence proofs require unrealistic assumptions (infinite D capacity).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⚠️ Ethical &amp; Societal Risks: Deepfakes, misinformation, bias amplification, copyright &amp; IP concerns.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⚠️ Compute &amp; Data Hunger: Requires massive, high-quality datasets and heavy GPU compute.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⚠️ Latent Space Interpretability: Disentanglement is imperfect; semantic editing requires extra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171"/>
            <a:ext cx="8392886" cy="1045029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r>
              <a:rPr lang="en-US" sz="3600" dirty="0"/>
              <a:t>The 2026 Landscape: GANs vs Diffusion Models</a:t>
            </a:r>
            <a:br>
              <a:rPr lang="en-US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GANs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Diffusion Models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Sample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Excellent (SOTA in some domains)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State-of-the-art (DALL·E 3, Midjourney)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Training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Fragile / Hard to 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Highly 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Fast (1 forward pass)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Slow (1000+ steps) - improving via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Prone to mode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diversity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Likelihood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 (via variational bound)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Text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Harder (early models)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Native (CLIP-guided)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Niche: real-time apps, video, 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Dominant: images, audio, video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406743" cy="1143000"/>
          </a:xfrm>
        </p:spPr>
        <p:txBody>
          <a:bodyPr>
            <a:normAutofit fontScale="90000"/>
          </a:bodyPr>
          <a:lstStyle/>
          <a:p>
            <a:r>
              <a:rPr sz="3600" dirty="0"/>
              <a:t>The</a:t>
            </a:r>
            <a:r>
              <a:rPr dirty="0"/>
              <a:t> Road Ahead — Beyond Adversarial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3630"/>
            <a:ext cx="8229600" cy="4852534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🔮 Research Frontiers (2026+):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World Models: GANs as simulators for RL (Dreamer, GAIA-1).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3D &amp; </a:t>
            </a:r>
            <a:r>
              <a:rPr dirty="0" err="1"/>
              <a:t>NeRFs</a:t>
            </a:r>
            <a:r>
              <a:rPr dirty="0"/>
              <a:t>: EG3D, GET3D — GANs for 3D-aware generation.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Multimodal Foundation Models: Unified text-image-audio-3D generators.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🎯 Key Takeaways: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GANs introduced adversarial learning, now used far beyond generation.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While diffusion leads in quality, GANs remain unmatched in speed and real-time apps.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The future is hybrid: combining GANs, diffusion, flows, and autoregressive models.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• Responsible development (bias mitigation, watermarking) is as critical as architectural innovation.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Q&amp;A | 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169</TotalTime>
  <Words>1565</Words>
  <Application>Microsoft Office PowerPoint</Application>
  <PresentationFormat>Widescreen</PresentationFormat>
  <Paragraphs>192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Generative Adversarial Networks (GANs)</vt:lpstr>
      <vt:lpstr>What is Artificial Intelligence?</vt:lpstr>
      <vt:lpstr> The AI Taxonomy — Nested Abstractions </vt:lpstr>
      <vt:lpstr>PowerPoint Presentation</vt:lpstr>
      <vt:lpstr>What is a GAN? (The Core Idea)</vt:lpstr>
      <vt:lpstr>Anatomy of a GAN</vt:lpstr>
      <vt:lpstr>The Generator — Learning to Lie Convincingly</vt:lpstr>
      <vt:lpstr>The Discriminator — The Adversarial Critic</vt:lpstr>
      <vt:lpstr>Adversarial Training — The Minimax Dance</vt:lpstr>
      <vt:lpstr>PowerPoint Presentation</vt:lpstr>
      <vt:lpstr>Real-World Impact of GANs</vt:lpstr>
      <vt:lpstr>Why GANs Are Hard — Open Problems</vt:lpstr>
      <vt:lpstr> The 2026 Landscape: GANs vs Diffusion Models </vt:lpstr>
      <vt:lpstr>The Road Ahead — Beyond Adversarial Generation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20</cp:revision>
  <dcterms:created xsi:type="dcterms:W3CDTF">2013-01-27T09:14:16Z</dcterms:created>
  <dcterms:modified xsi:type="dcterms:W3CDTF">2026-09-03T06:32:13Z</dcterms:modified>
  <cp:category/>
</cp:coreProperties>
</file>