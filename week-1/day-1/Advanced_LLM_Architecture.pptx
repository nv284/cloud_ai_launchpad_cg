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73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4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3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4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97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68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2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01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3059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075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892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2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7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615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1088571"/>
            <a:ext cx="10156371" cy="1578429"/>
          </a:xfrm>
        </p:spPr>
        <p:txBody>
          <a:bodyPr/>
          <a:lstStyle/>
          <a:p>
            <a:r>
              <a:rPr dirty="0"/>
              <a:t>Advanced LLM Architecture &amp;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9100457" cy="1752600"/>
          </a:xfrm>
        </p:spPr>
        <p:txBody>
          <a:bodyPr>
            <a:normAutofit/>
          </a:bodyPr>
          <a:lstStyle/>
          <a:p>
            <a:r>
              <a:rPr dirty="0"/>
              <a:t>From Transformer Mathematics to Production-Grade RAG Applications</a:t>
            </a:r>
          </a:p>
          <a:p>
            <a:r>
              <a:rPr dirty="0"/>
              <a:t>Comprehensive Deep Dive into LLMs, APIs, Memory, and </a:t>
            </a:r>
            <a:r>
              <a:rPr dirty="0" err="1"/>
              <a:t>MLOps</a:t>
            </a:r>
            <a:endParaRPr dirty="0"/>
          </a:p>
          <a:p>
            <a:r>
              <a:rPr dirty="0"/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417629" cy="650648"/>
          </a:xfrm>
        </p:spPr>
        <p:txBody>
          <a:bodyPr>
            <a:normAutofit fontScale="90000"/>
          </a:bodyPr>
          <a:lstStyle/>
          <a:p>
            <a:br>
              <a:rPr lang="it-IT" sz="3600" dirty="0"/>
            </a:br>
            <a:r>
              <a:rPr lang="it-IT" sz="3600" dirty="0"/>
              <a:t>LLM vs Traditional NLP vs Generative AI</a:t>
            </a:r>
            <a:br>
              <a:rPr lang="it-IT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NLP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Generative 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Large Language Models (LLMs)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Paradigm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Pipeline-based, task-specific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Creates new data (images,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Autoregressive sequence modeling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HMMs, CRFs, early RNNs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GANs, Diffusion, VAEs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Transformer (Decoder-only)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Supervised, small labeled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Adversarial / Denoising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Self-supervised (Next-token) + RLHF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Rigid, single-task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 creativity, low factual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Zero-shot/Few-shot generalization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Fixed window (n-grams)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Global (Diffusion) / Local (GAN)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Massive context window (100k - 2M tokens)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94191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dirty="0"/>
              <a:t>The Modern LLM Landscape (2024-2026)</a:t>
            </a:r>
            <a:br>
              <a:rPr lang="en-US" sz="3600" dirty="0"/>
            </a:br>
            <a:endParaRPr sz="3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Family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Innovations / Strengths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GPT (OpenAI)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Decoder-only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Pioneer of scaling, RLHF, tool-use, multimodal (GPT-4o)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Claude (Anthropic)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Decoder-only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Constitutional AI (RLAIF), massive context (200k+), high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Gemini (Google)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Multimodal Natively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Built from ground up for multi-modality, long context (1M+)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Llama (Meta)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Decoder-only (Open)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Open-weights leader, highly optimized for fine-tuning &amp; local deployment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Mistral (Mistral 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Decoder-only (Open)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Sliding Window Attention, MoE (Mixtral), extreme compute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994571" cy="1143000"/>
          </a:xfrm>
        </p:spPr>
        <p:txBody>
          <a:bodyPr/>
          <a:lstStyle/>
          <a:p>
            <a:r>
              <a:rPr dirty="0"/>
              <a:t>Real-World Applications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28058"/>
            <a:ext cx="10493829" cy="4798106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🧠 Agentic Workflows: Autonomous agents executing multi-step reasoning, tool calling, and API orchestration (e.g., </a:t>
            </a:r>
            <a:r>
              <a:rPr dirty="0" err="1"/>
              <a:t>AutoGPT</a:t>
            </a:r>
            <a:r>
              <a:rPr dirty="0"/>
              <a:t>, </a:t>
            </a:r>
            <a:r>
              <a:rPr dirty="0" err="1"/>
              <a:t>LangGraph</a:t>
            </a:r>
            <a:r>
              <a:rPr dirty="0"/>
              <a:t>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💻 Software Engineering: Code generation, refactoring, automated testing, and CI/CD pipeline integration (e.g., GitHub Copilot, Devin).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🏢 Enterprise Knowledge: Internal search, automated compliance auditing, and dynamic document synthesis.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🧬 Scientific Research: Protein folding (AlphaFold 3), material science discovery, and automated literature review.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🎮 Interactive Media: Dynamic NPC dialogue, real-time game narrative generation, and personalized learning tutors.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⚖️ Legal &amp; Financial: Contract analysis, automated risk assessment, and algorithmic trading sentiment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755086" cy="1143000"/>
          </a:xfrm>
        </p:spPr>
        <p:txBody>
          <a:bodyPr>
            <a:normAutofit/>
          </a:bodyPr>
          <a:lstStyle/>
          <a:p>
            <a:r>
              <a:rPr dirty="0"/>
              <a:t>How LLMs Understand Text: The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961914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LLMs do not read text; they process high-dimensional mathematical tensors.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Step 1: Text → Tokens (Discretization)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Raw string is broken into </a:t>
            </a:r>
            <a:r>
              <a:rPr dirty="0" err="1"/>
              <a:t>subword</a:t>
            </a:r>
            <a:r>
              <a:rPr dirty="0"/>
              <a:t> units using a vocabulary.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Step 2: Tokens → IDs (Integer Mapping)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Each token is mapped to a unique integer index (e.g., 'hello' -&gt; 15496).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Step 3: IDs → Embeddings (Continuous Space)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Integer IDs are looked up in an Embedding Matrix (E ∈ R^{V x </a:t>
            </a:r>
            <a:r>
              <a:rPr dirty="0" err="1"/>
              <a:t>d_model</a:t>
            </a:r>
            <a:r>
              <a:rPr dirty="0"/>
              <a:t>}).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Result: A dense vector of floats (e.g., 4096 dimensions) capturing semantic meaning.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Step 4: Forward Pass through Transformer layers to predict next token probabilities (Logits).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39400" cy="1143000"/>
          </a:xfrm>
        </p:spPr>
        <p:txBody>
          <a:bodyPr>
            <a:normAutofit fontScale="90000"/>
          </a:bodyPr>
          <a:lstStyle/>
          <a:p>
            <a:r>
              <a:rPr dirty="0"/>
              <a:t>Tokenization: BPE, </a:t>
            </a:r>
            <a:r>
              <a:rPr dirty="0" err="1"/>
              <a:t>WordPiece</a:t>
            </a:r>
            <a:r>
              <a:rPr dirty="0"/>
              <a:t>, and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Algorithms: Byte-Pair Encoding (BPE), </a:t>
            </a:r>
            <a:r>
              <a:rPr dirty="0" err="1"/>
              <a:t>WordPiece</a:t>
            </a:r>
            <a:r>
              <a:rPr dirty="0"/>
              <a:t>, Unigram, and </a:t>
            </a:r>
            <a:r>
              <a:rPr dirty="0" err="1"/>
              <a:t>SentencePiece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Token vs Word vs Character: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Character: 1 char = 1 token (Inefficient, loses semantics).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Word: 1 word = 1 token (Fails on Out-Of-Vocabulary / rare words).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 err="1"/>
              <a:t>Subword</a:t>
            </a:r>
            <a:r>
              <a:rPr dirty="0"/>
              <a:t> (Token): Balances both. Common words = 1 token; rare words = multiple tokens.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Context Window &amp; Token Limits: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The maximum sequence length (N) the model can process at once.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Limited by VRAM (Attention matrix is O(N^2) without optimizations like </a:t>
            </a:r>
            <a:r>
              <a:rPr dirty="0" err="1"/>
              <a:t>FlashAttention</a:t>
            </a:r>
            <a:r>
              <a:rPr dirty="0"/>
              <a:t>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Modern models use </a:t>
            </a:r>
            <a:r>
              <a:rPr dirty="0" err="1"/>
              <a:t>RoPE</a:t>
            </a:r>
            <a:r>
              <a:rPr dirty="0"/>
              <a:t> (Rotary Position Embedding) and </a:t>
            </a:r>
            <a:r>
              <a:rPr dirty="0" err="1"/>
              <a:t>YaRN</a:t>
            </a:r>
            <a:r>
              <a:rPr dirty="0"/>
              <a:t> to extrapolate context beyond training limits.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Encoder vs Decoder &amp; The Attention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800"/>
              </a:spcAft>
              <a:defRPr sz="1600"/>
            </a:pPr>
            <a:r>
              <a:t>Encoder (e.g., BERT): Bidirectional attention. Sees all tokens at once. Used for understanding, classification, embeddings.</a:t>
            </a:r>
          </a:p>
          <a:p>
            <a:pPr>
              <a:spcAft>
                <a:spcPts val="800"/>
              </a:spcAft>
              <a:defRPr sz="1600"/>
            </a:pPr>
            <a:r>
              <a:t>Decoder (e.g., GPT): Causal (unidirectional) attention. Token N can only attend to tokens 1...N-1. Used for generation.</a:t>
            </a:r>
          </a:p>
          <a:p>
            <a:pPr>
              <a:spcAft>
                <a:spcPts val="800"/>
              </a:spcAft>
              <a:defRPr sz="1600"/>
            </a:pPr>
            <a:r>
              <a:t>Encoder-Decoder (e.g., T5): Cross-attention. Decoder attends to Encoder outputs. Used for translation, summarization.</a:t>
            </a:r>
          </a:p>
          <a:p>
            <a:pPr>
              <a:spcAft>
                <a:spcPts val="800"/>
              </a:spcAft>
              <a:defRPr sz="1600"/>
            </a:pPr>
            <a:r>
              <a:t>What is Attention?</a:t>
            </a:r>
          </a:p>
          <a:p>
            <a:pPr lvl="1">
              <a:spcAft>
                <a:spcPts val="800"/>
              </a:spcAft>
              <a:defRPr sz="1600"/>
            </a:pPr>
            <a:r>
              <a:t>A mechanism to dynamically weight the importance of different parts of the input sequence.</a:t>
            </a:r>
          </a:p>
          <a:p>
            <a:pPr lvl="1">
              <a:spcAft>
                <a:spcPts val="800"/>
              </a:spcAft>
              <a:defRPr sz="1600"/>
            </a:pPr>
            <a:r>
              <a:t>Allows the model to 'focus' on relevant context when predicting the next token.</a:t>
            </a:r>
          </a:p>
          <a:p>
            <a:pPr lvl="1">
              <a:spcAft>
                <a:spcPts val="800"/>
              </a:spcAft>
              <a:defRPr sz="1600"/>
            </a:pPr>
            <a:r>
              <a:t>Replaces static hidden states with dynamic, context-dependent representations.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74829" cy="1143000"/>
          </a:xfrm>
        </p:spPr>
        <p:txBody>
          <a:bodyPr>
            <a:normAutofit fontScale="90000"/>
          </a:bodyPr>
          <a:lstStyle/>
          <a:p>
            <a:r>
              <a:rPr dirty="0"/>
              <a:t>Multi-Head Attention &amp;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733314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Multi-Head Attention (MHA):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Instead of one attention function, run 'h' parallel attention heads (e.g., 32 or 128).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Allows the model to jointly attend to information from different representation subspaces (e.g., syntax vs semantics).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Outputs are concatenated and linearly projected. (Grouped-Query Attention / GQA is used in modern LLMs for inference speed).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Positional Encoding (PE):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Attention is permutation invariant (has no concept of order).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We must inject sequence order. Originally: Sinusoidal absolute PE.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Modern Standard: </a:t>
            </a:r>
            <a:r>
              <a:rPr dirty="0" err="1"/>
              <a:t>RoPE</a:t>
            </a:r>
            <a:r>
              <a:rPr dirty="0"/>
              <a:t> (Rotary Position Embedding) applies rotation matrices to Q and K, encoding relative distance natively in the dot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722429" cy="1143000"/>
          </a:xfrm>
        </p:spPr>
        <p:txBody>
          <a:bodyPr>
            <a:normAutofit/>
          </a:bodyPr>
          <a:lstStyle/>
          <a:p>
            <a:r>
              <a:rPr dirty="0"/>
              <a:t>How LLMs Learn: The Training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722428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1. Pre-training (Self-Supervised Learning):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Objective: Next-Token Prediction on trillions of tokens (Common Crawl, books, code).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Loss: Cross-entropy. Teaches the model grammar, facts, and basic reasoning.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2. Supervised Fine-Tuning (SFT):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Trained on high-quality (Prompt, Response) pairs. Teaches the model to follow instructions and format outputs.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3. Alignment (RLHF / DPO):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RLHF: Train a Reward Model on human preferences, then optimize policy via PPO (Proximal Policy Optimization).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DPO (Direct Preference Optimization): Bypasses the reward model, directly optimizing the policy using preference pairs (more stable, widely used in 2025+).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LLM-Powered Applications &amp; The API Paradigm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800"/>
              </a:spcAft>
              <a:defRPr sz="1600"/>
            </a:pPr>
            <a:r>
              <a:t>What is an LLM-powered application?</a:t>
            </a:r>
          </a:p>
          <a:p>
            <a:pPr lvl="1">
              <a:spcAft>
                <a:spcPts val="800"/>
              </a:spcAft>
              <a:defRPr sz="1600"/>
            </a:pPr>
            <a:r>
              <a:t>Software that wraps a foundational LLM with orchestration, memory, tools, and UI to solve specific user problems.</a:t>
            </a:r>
          </a:p>
          <a:p>
            <a:pPr>
              <a:spcAft>
                <a:spcPts val="800"/>
              </a:spcAft>
              <a:defRPr sz="1600"/>
            </a:pPr>
            <a:r>
              <a:t>What is an LLM API?</a:t>
            </a:r>
          </a:p>
          <a:p>
            <a:pPr lvl="1">
              <a:spcAft>
                <a:spcPts val="800"/>
              </a:spcAft>
              <a:defRPr sz="1600"/>
            </a:pPr>
            <a:r>
              <a:t>A RESTful or gRPC interface exposing model inference over the cloud.</a:t>
            </a:r>
          </a:p>
          <a:p>
            <a:pPr>
              <a:spcAft>
                <a:spcPts val="800"/>
              </a:spcAft>
              <a:defRPr sz="1600"/>
            </a:pPr>
            <a:r>
              <a:t>Request/Response Model:</a:t>
            </a:r>
          </a:p>
          <a:p>
            <a:pPr lvl="1">
              <a:spcAft>
                <a:spcPts val="800"/>
              </a:spcAft>
              <a:defRPr sz="1600"/>
            </a:pPr>
            <a:r>
              <a:t>Client sends JSON payload (prompt, params). Server returns JSON (generated text, usage stats).</a:t>
            </a:r>
          </a:p>
          <a:p>
            <a:pPr lvl="1">
              <a:spcAft>
                <a:spcPts val="800"/>
              </a:spcAft>
              <a:defRPr sz="1600"/>
            </a:pPr>
            <a:r>
              <a:t>Streaming (Server-Sent Events - SSE): Tokens are returned incrementally to reduce Time-To-First-Token (TTFT).</a:t>
            </a:r>
          </a:p>
          <a:p>
            <a:pPr>
              <a:spcAft>
                <a:spcPts val="800"/>
              </a:spcAft>
              <a:defRPr sz="1600"/>
            </a:pPr>
            <a:r>
              <a:t>Authentication: API Keys (Bearer tokens) passed in HTTP headers for rate limiting and billing.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016343" cy="1143000"/>
          </a:xfrm>
        </p:spPr>
        <p:txBody>
          <a:bodyPr>
            <a:normAutofit fontScale="90000"/>
          </a:bodyPr>
          <a:lstStyle/>
          <a:p>
            <a:r>
              <a:rPr dirty="0"/>
              <a:t>API Mechanics: Tokens, Parameters &amp;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016342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Model Selection: Balancing latency, cost, and capability (e.g., GPT-4o vs GPT-4o-mini).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Input vs Output Tokens: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Input tokens (prompt + context) are cheaper. Output tokens (generation) are 2x-4x more expensive due to autoregressive compute.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Generation Parameters (Controlling the Probability Distribution):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Temperature (T): Scales logits before </a:t>
            </a:r>
            <a:r>
              <a:rPr dirty="0" err="1"/>
              <a:t>softmax</a:t>
            </a:r>
            <a:r>
              <a:rPr dirty="0"/>
              <a:t>. T=0 is deterministic (greedy). T&gt;1 increases randomness.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Top-p (Nucleus Sampling): Samples from the smallest set of tokens whose cumulative probability exceeds p.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Frequency/Presence Penalties: Discourages repetition and encourages topic diversity.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Cost Basics: Priced per 1M tokens. Optimized via prompt caching and batching.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548257" cy="1143000"/>
          </a:xfrm>
        </p:spPr>
        <p:txBody>
          <a:bodyPr>
            <a:normAutofit fontScale="90000"/>
          </a:bodyPr>
          <a:lstStyle/>
          <a:p>
            <a:r>
              <a:rPr dirty="0"/>
              <a:t>Prompt Engineering &amp;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548256" cy="4525963"/>
          </a:xfrm>
        </p:spPr>
        <p:txBody>
          <a:bodyPr/>
          <a:lstStyle/>
          <a:p>
            <a:endParaRPr/>
          </a:p>
          <a:p>
            <a:pPr>
              <a:spcAft>
                <a:spcPts val="800"/>
              </a:spcAft>
              <a:defRPr sz="1600"/>
            </a:pPr>
            <a:r>
              <a:t>System Prompt: Sets the persona, rules, and constraints (e.g., 'You are a senior Python engineer. Output only JSON.').</a:t>
            </a:r>
          </a:p>
          <a:p>
            <a:pPr>
              <a:spcAft>
                <a:spcPts val="800"/>
              </a:spcAft>
              <a:defRPr sz="1600"/>
            </a:pPr>
            <a:r>
              <a:t>User Prompt: The specific query or task from the end-user.</a:t>
            </a:r>
          </a:p>
          <a:p>
            <a:pPr>
              <a:spcAft>
                <a:spcPts val="800"/>
              </a:spcAft>
              <a:defRPr sz="1600"/>
            </a:pPr>
            <a:r>
              <a:t>Context: The background information provided to ground the model (e.g., retrieved documents).</a:t>
            </a:r>
          </a:p>
          <a:p>
            <a:pPr>
              <a:spcAft>
                <a:spcPts val="800"/>
              </a:spcAft>
              <a:defRPr sz="1600"/>
            </a:pPr>
            <a:r>
              <a:t>Conversation History: Previous turns (User/Assistant) appended to maintain state.</a:t>
            </a:r>
          </a:p>
          <a:p>
            <a:pPr>
              <a:spcAft>
                <a:spcPts val="800"/>
              </a:spcAft>
              <a:defRPr sz="1600"/>
            </a:pPr>
            <a:r>
              <a:t>Context Window Management:</a:t>
            </a:r>
          </a:p>
          <a:p>
            <a:pPr lvl="1">
              <a:spcAft>
                <a:spcPts val="800"/>
              </a:spcAft>
              <a:defRPr sz="1600"/>
            </a:pPr>
            <a:r>
              <a:t>Must fit System + Context + History + User Prompt + Max Output within the model's limit.</a:t>
            </a:r>
          </a:p>
          <a:p>
            <a:pPr>
              <a:spcAft>
                <a:spcPts val="800"/>
              </a:spcAft>
              <a:defRPr sz="1600"/>
            </a:pPr>
            <a:r>
              <a:t>Prompt Construction: Using templating engines (Jinja2) and structured formats (XML tags, Markdown) to clearly delineate sections for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Application Memory: Stateless vs Stateful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pPr>
              <a:spcAft>
                <a:spcPts val="800"/>
              </a:spcAft>
              <a:defRPr sz="1600"/>
            </a:pPr>
            <a:r>
              <a:t>The LLM itself is strictly stateless (no memory between API calls).</a:t>
            </a:r>
          </a:p>
          <a:p>
            <a:pPr>
              <a:spcAft>
                <a:spcPts val="800"/>
              </a:spcAft>
              <a:defRPr sz="1600"/>
            </a:pPr>
            <a:r>
              <a:t>Short-term Memory (Conversation State):</a:t>
            </a:r>
          </a:p>
          <a:p>
            <a:pPr lvl="1">
              <a:spcAft>
                <a:spcPts val="800"/>
              </a:spcAft>
              <a:defRPr sz="1600"/>
            </a:pPr>
            <a:r>
              <a:t>Managed by the application backend (Redis, Memcached).</a:t>
            </a:r>
          </a:p>
          <a:p>
            <a:pPr lvl="1">
              <a:spcAft>
                <a:spcPts val="800"/>
              </a:spcAft>
              <a:defRPr sz="1600"/>
            </a:pPr>
            <a:r>
              <a:t>Strategies: Sliding window (keep last N turns), Token truncation, or LLM-based summarization of past turns.</a:t>
            </a:r>
          </a:p>
          <a:p>
            <a:pPr>
              <a:spcAft>
                <a:spcPts val="800"/>
              </a:spcAft>
              <a:defRPr sz="1600"/>
            </a:pPr>
            <a:r>
              <a:t>Long-term Memory (Semantic State):</a:t>
            </a:r>
          </a:p>
          <a:p>
            <a:pPr lvl="1">
              <a:spcAft>
                <a:spcPts val="800"/>
              </a:spcAft>
              <a:defRPr sz="1600"/>
            </a:pPr>
            <a:r>
              <a:t>User preferences, historical facts, and persistent knowledge.</a:t>
            </a:r>
          </a:p>
          <a:p>
            <a:pPr lvl="1">
              <a:spcAft>
                <a:spcPts val="800"/>
              </a:spcAft>
              <a:defRPr sz="1600"/>
            </a:pPr>
            <a:r>
              <a:t>Stored in Vector Databases or Graph Databases (Knowledge Graphs).</a:t>
            </a:r>
          </a:p>
          <a:p>
            <a:pPr>
              <a:spcAft>
                <a:spcPts val="800"/>
              </a:spcAft>
              <a:defRPr sz="1600"/>
            </a:pPr>
            <a:r>
              <a:t>Why External Storage? LLM context is volatile and expensive. External DBs provide durable, queryable, and scalable memory.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LLM vs LLM Application &amp; Grounding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/>
          </a:p>
          <a:p>
            <a:pPr>
              <a:spcAft>
                <a:spcPts val="800"/>
              </a:spcAft>
              <a:defRPr sz="1600"/>
            </a:pPr>
            <a:r>
              <a:t>LLM: The raw "brain" (weights and biases). Cannot access the internet, databases, or current time.</a:t>
            </a:r>
          </a:p>
          <a:p>
            <a:pPr>
              <a:spcAft>
                <a:spcPts val="800"/>
              </a:spcAft>
              <a:defRPr sz="1600"/>
            </a:pPr>
            <a:r>
              <a:t>LLM Application: The "body". Includes routing, memory, tool execution, and UI.</a:t>
            </a:r>
          </a:p>
          <a:p>
            <a:pPr>
              <a:spcAft>
                <a:spcPts val="800"/>
              </a:spcAft>
              <a:defRPr sz="1600"/>
            </a:pPr>
            <a:r>
              <a:t>Grounding the LLM:</a:t>
            </a:r>
          </a:p>
          <a:p>
            <a:pPr lvl="1">
              <a:spcAft>
                <a:spcPts val="800"/>
              </a:spcAft>
              <a:defRPr sz="1600"/>
            </a:pPr>
            <a:r>
              <a:t>Connecting the LLM to external, proprietary, or real-time data sources.</a:t>
            </a:r>
          </a:p>
          <a:p>
            <a:pPr>
              <a:spcAft>
                <a:spcPts val="800"/>
              </a:spcAft>
              <a:defRPr sz="1600"/>
            </a:pPr>
            <a:r>
              <a:t>Vector Database Integration:</a:t>
            </a:r>
          </a:p>
          <a:p>
            <a:pPr lvl="1">
              <a:spcAft>
                <a:spcPts val="800"/>
              </a:spcAft>
              <a:defRPr sz="1600"/>
            </a:pPr>
            <a:r>
              <a:t>Documents are chunked, embedded, and stored in a Vector DB (Pinecone, Milvus, pgvector).</a:t>
            </a:r>
          </a:p>
          <a:p>
            <a:pPr lvl="1">
              <a:spcAft>
                <a:spcPts val="800"/>
              </a:spcAft>
              <a:defRPr sz="1600"/>
            </a:pPr>
            <a:r>
              <a:t>At query time, user prompt is embedded, and the DB performs Approximate Nearest Neighbor (ANN) search (e.g., HNSW algorithm).</a:t>
            </a:r>
          </a:p>
          <a:p>
            <a:pPr lvl="1">
              <a:spcAft>
                <a:spcPts val="800"/>
              </a:spcAft>
              <a:defRPr sz="1600"/>
            </a:pPr>
            <a:r>
              <a:t>Retrieved chunks are injected into the prompt context.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842171" cy="1143000"/>
          </a:xfrm>
        </p:spPr>
        <p:txBody>
          <a:bodyPr>
            <a:normAutofit/>
          </a:bodyPr>
          <a:lstStyle/>
          <a:p>
            <a:r>
              <a:rPr sz="3600" dirty="0"/>
              <a:t>Production LLMs: Input/Output &amp; Prompt </a:t>
            </a:r>
            <a:r>
              <a:rPr sz="3600" dirty="0" err="1"/>
              <a:t>Mgmt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2744"/>
            <a:ext cx="10668000" cy="4863420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dirty="0"/>
              <a:t>Input Validation &amp; Security: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PII Redaction: Scrubbing sensitive data before it hits the API.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Prompt Injection Defense: Detecting and neutralizing adversarial inputs (e.g., </a:t>
            </a:r>
            <a:r>
              <a:rPr dirty="0" err="1"/>
              <a:t>NeMo</a:t>
            </a:r>
            <a:r>
              <a:rPr dirty="0"/>
              <a:t> Guardrails, Llama Guard).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Prompt Management: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Version control for prompts (treat prompts as code).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A/B testing different prompt templates to optimize for accuracy or cost.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Output Validation: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Structured Output (JSON mode / Instructor): Forcing the LLM to output valid JSON schemas.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Hallucination checks: Cross-referencing output against retrieved context or using a secondary 'critic' LLM.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72800" cy="1143000"/>
          </a:xfrm>
        </p:spPr>
        <p:txBody>
          <a:bodyPr>
            <a:normAutofit fontScale="90000"/>
          </a:bodyPr>
          <a:lstStyle/>
          <a:p>
            <a:r>
              <a:rPr dirty="0"/>
              <a:t>RAG (Retrieval-Augmented Generation)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53800" cy="4525963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  <a:defRPr sz="1600"/>
            </a:pPr>
            <a:r>
              <a:rPr dirty="0"/>
              <a:t>Basic RAG Pipeline: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1. Ingestion: Documents → Chunking (Fixed, Semantic, or Recursive) → Embedding Model → Vector DB.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2. Retrieval: User Query → Query Embedding → Vector Search (Top-K) → Optional Re-ranking (Cross-encoder).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3. Generation: Retrieved Context + User Query → LLM Prompt → Final Answer.</a:t>
            </a:r>
          </a:p>
          <a:p>
            <a:pPr>
              <a:spcAft>
                <a:spcPts val="800"/>
              </a:spcAft>
              <a:defRPr sz="1600"/>
            </a:pPr>
            <a:r>
              <a:rPr dirty="0"/>
              <a:t>Advanced RAG Patterns (2025/2026):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Hybrid Search: Combining Vector (Semantic) + BM25 (Keyword) search.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Hypothetical Document Embeddings (</a:t>
            </a:r>
            <a:r>
              <a:rPr dirty="0" err="1"/>
              <a:t>HyDE</a:t>
            </a:r>
            <a:r>
              <a:rPr dirty="0"/>
              <a:t>): LLM generates a fake answer to embed for better retrieval.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Graph RAG: Combining Vector DBs with Knowledge Graphs for multi-hop reasoning.</a:t>
            </a:r>
          </a:p>
          <a:p>
            <a:pPr lvl="1">
              <a:spcAft>
                <a:spcPts val="800"/>
              </a:spcAft>
              <a:defRPr sz="1600"/>
            </a:pPr>
            <a:r>
              <a:rPr dirty="0"/>
              <a:t>Agentic RAG: LLM dynamically decides whether to retrieve, calculate, or search the web.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193</TotalTime>
  <Words>1849</Words>
  <Application>Microsoft Office PowerPoint</Application>
  <PresentationFormat>Widescreen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Century Gothic</vt:lpstr>
      <vt:lpstr>Wingdings 3</vt:lpstr>
      <vt:lpstr>Ion</vt:lpstr>
      <vt:lpstr>Advanced LLM Architecture &amp; Engineering</vt:lpstr>
      <vt:lpstr> LLM vs Traditional NLP vs Generative AI </vt:lpstr>
      <vt:lpstr> The Modern LLM Landscape (2024-2026) </vt:lpstr>
      <vt:lpstr>Real-World Applications of LLMs</vt:lpstr>
      <vt:lpstr>How LLMs Understand Text: The Pipeline</vt:lpstr>
      <vt:lpstr>Tokenization: BPE, WordPiece, and Limits</vt:lpstr>
      <vt:lpstr>Encoder vs Decoder &amp; The Attention Mechanism</vt:lpstr>
      <vt:lpstr>Multi-Head Attention &amp; Positional Encoding</vt:lpstr>
      <vt:lpstr>How LLMs Learn: The Training Pipeline</vt:lpstr>
      <vt:lpstr>LLM-Powered Applications &amp; The API Paradigm</vt:lpstr>
      <vt:lpstr>API Mechanics: Tokens, Parameters &amp; Costs</vt:lpstr>
      <vt:lpstr>Prompt Engineering &amp; Context Management</vt:lpstr>
      <vt:lpstr>Application Memory: Stateless vs Stateful</vt:lpstr>
      <vt:lpstr>LLM vs LLM Application &amp; Grounding</vt:lpstr>
      <vt:lpstr>Production LLMs: Input/Output &amp; Prompt Mgmt</vt:lpstr>
      <vt:lpstr>RAG (Retrieval-Augmented Generation)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30</cp:revision>
  <dcterms:created xsi:type="dcterms:W3CDTF">2013-01-27T09:14:16Z</dcterms:created>
  <dcterms:modified xsi:type="dcterms:W3CDTF">2026-09-03T09:39:43Z</dcterms:modified>
  <cp:category/>
</cp:coreProperties>
</file>