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784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9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60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417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4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06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7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12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91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445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92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74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90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66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06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40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10428514" cy="1470025"/>
          </a:xfrm>
        </p:spPr>
        <p:txBody>
          <a:bodyPr/>
          <a:lstStyle/>
          <a:p>
            <a:r>
              <a:rPr dirty="0"/>
              <a:t>Advanced Prompt Engineering &amp; LLM Orchestration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599" y="3886200"/>
            <a:ext cx="10232571" cy="1752600"/>
          </a:xfrm>
        </p:spPr>
        <p:txBody>
          <a:bodyPr>
            <a:normAutofit/>
          </a:bodyPr>
          <a:lstStyle/>
          <a:p>
            <a:r>
              <a:rPr dirty="0"/>
              <a:t>From Latent Space Navigation to Production-Grade RAG &amp; Evaluation</a:t>
            </a:r>
          </a:p>
          <a:p>
            <a:r>
              <a:rPr dirty="0"/>
              <a:t>Comprehensive Deep Dive into Prompt Architecture, Reasoning, and </a:t>
            </a:r>
            <a:r>
              <a:rPr dirty="0" err="1"/>
              <a:t>LLMOps</a:t>
            </a:r>
            <a:endParaRPr dirty="0"/>
          </a:p>
          <a:p>
            <a:r>
              <a:rPr dirty="0"/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210800" cy="1143000"/>
          </a:xfrm>
        </p:spPr>
        <p:txBody>
          <a:bodyPr>
            <a:normAutofit fontScale="90000"/>
          </a:bodyPr>
          <a:lstStyle/>
          <a:p>
            <a:r>
              <a:rPr sz="3600" dirty="0"/>
              <a:t>What is Prompt Engineering? (Advanced Framing)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8314"/>
            <a:ext cx="10657114" cy="4917849"/>
          </a:xfrm>
        </p:spPr>
        <p:txBody>
          <a:bodyPr/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Definition: The art and science of shaping the input distribution to navigate the latent space of an LLM toward a desired output manifold.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Not just 'asking questions' — it is about providing the right in-context examples, constraints, and cognitive scaffolding.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Theoretical framing: Prompting as Bayesian inference, where the prompt acts as the prior that updates the model posterior distribution over possible completions.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Mechanism: Prompts activate specific sub-networks within the Transformer, effectively 'priming' the attention heads to focus on relevant semantic clusters.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The Goal: Minimize the entropy of the output distribution for the specific tokens you want, while maximizing it for irrelevant tokens.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276114" cy="1143000"/>
          </a:xfrm>
        </p:spPr>
        <p:txBody>
          <a:bodyPr>
            <a:normAutofit/>
          </a:bodyPr>
          <a:lstStyle/>
          <a:p>
            <a:r>
              <a:rPr sz="3600" dirty="0"/>
              <a:t>The Anatomy of an Advanced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317172"/>
            <a:ext cx="10025743" cy="4808992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Role/Persona: Sets the activation patterns for specific domain knowledge (e.g., 'Expert Rust compiler engineer').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Context: Background information, state of the world, and retrieved documents.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Task/Instruction: The explicit directive (use imperative verbs).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Constraints: Negative prompts, length limits, forbidden topics, tone restrictions.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Output Format: Exact schema (JSON, XML, Markdown) to ensure deterministic downstream parsing.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Example Delimiters: Using XML tags (e.g., &lt;context&gt;, &lt;instruction&gt;) to clearly separate sections for the attention mechanism.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635343" cy="1143000"/>
          </a:xfrm>
        </p:spPr>
        <p:txBody>
          <a:bodyPr>
            <a:normAutofit/>
          </a:bodyPr>
          <a:lstStyle/>
          <a:p>
            <a:r>
              <a:rPr sz="3600" dirty="0"/>
              <a:t>In-Context Learning: Zero-Shot vs Few-Shot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430000" cy="4525963"/>
          </a:xfrm>
        </p:spPr>
        <p:txBody>
          <a:bodyPr/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Zero-Shot: Relying purely on pre-trained weights. Fails on novel distributions or complex logic.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Few-Shot: Providing K examples (</a:t>
            </a:r>
            <a:r>
              <a:rPr sz="2000" dirty="0" err="1"/>
              <a:t>x_i</a:t>
            </a:r>
            <a:r>
              <a:rPr sz="2000" dirty="0"/>
              <a:t>, </a:t>
            </a:r>
            <a:r>
              <a:rPr sz="2000" dirty="0" err="1"/>
              <a:t>y_i</a:t>
            </a:r>
            <a:r>
              <a:rPr sz="2000" dirty="0"/>
              <a:t>) in the context window.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Mechanism: The model performs implicit gradient-free learning. The examples act as a soft attention mechanism, aligning internal representations to the task manifold.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Advanced Insight: The 'magic' of few-shot is not just format matching; it calibrates the model decision boundary and reduces ambiguity in the latent space.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Limit: Diminishing returns after 3-5 examples; context window pollution can degrade performance (Lost in the Middle phenomenon).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918371" cy="1143000"/>
          </a:xfrm>
        </p:spPr>
        <p:txBody>
          <a:bodyPr/>
          <a:lstStyle/>
          <a:p>
            <a:r>
              <a:rPr dirty="0"/>
              <a:t>Chain-of-Thought (</a:t>
            </a:r>
            <a:r>
              <a:rPr dirty="0" err="1"/>
              <a:t>CoT</a:t>
            </a:r>
            <a:r>
              <a:rPr dirty="0"/>
              <a:t>) &amp;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776857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Concept: Forcing the model to generate intermediate reasoning steps before the final answer.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Why it works: Transforms an intractable O(1) forward pass into an O(N) autoregressive process, using generated tokens as 'scratchpad' memory.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Variants: Zero-shot </a:t>
            </a:r>
            <a:r>
              <a:rPr sz="2000" dirty="0" err="1"/>
              <a:t>CoT</a:t>
            </a:r>
            <a:r>
              <a:rPr sz="2000" dirty="0"/>
              <a:t> ('Let us think step by step'), Few-shot </a:t>
            </a:r>
            <a:r>
              <a:rPr sz="2000" dirty="0" err="1"/>
              <a:t>CoT</a:t>
            </a:r>
            <a:r>
              <a:rPr sz="2000" dirty="0"/>
              <a:t>, Self-Consistency (majority voting over multiple </a:t>
            </a:r>
            <a:r>
              <a:rPr sz="2000" dirty="0" err="1"/>
              <a:t>CoT</a:t>
            </a:r>
            <a:r>
              <a:rPr sz="2000" dirty="0"/>
              <a:t> paths).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Mathematical View: </a:t>
            </a:r>
            <a:r>
              <a:rPr sz="2000" dirty="0" err="1"/>
              <a:t>CoT</a:t>
            </a:r>
            <a:r>
              <a:rPr sz="2000" dirty="0"/>
              <a:t> effectively increases the model computational depth, allowing it to solve problems requiring more FLOPs than a single forward pass allows.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Limitation: Still bounded by the context window and prone to 'hallucinated reasoning' (sounding logical but being factually wrong).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027229" cy="1143000"/>
          </a:xfrm>
        </p:spPr>
        <p:txBody>
          <a:bodyPr/>
          <a:lstStyle/>
          <a:p>
            <a:r>
              <a:rPr dirty="0"/>
              <a:t>Task Decomposition &amp; Advanced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364686" cy="4525963"/>
          </a:xfrm>
        </p:spPr>
        <p:txBody>
          <a:bodyPr/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Least-to-Most Prompting: Break complex problem into sub-problems, solve sequentially, passing context forward.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Tree of Thoughts (</a:t>
            </a:r>
            <a:r>
              <a:rPr sz="2000" dirty="0" err="1"/>
              <a:t>ToT</a:t>
            </a:r>
            <a:r>
              <a:rPr sz="2000" dirty="0"/>
              <a:t>): Explore multiple reasoning paths simultaneously, using BFS/DFS and a value function (LLM-as-judge) to prune bad branches.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Graph of Thoughts (</a:t>
            </a:r>
            <a:r>
              <a:rPr sz="2000" dirty="0" err="1"/>
              <a:t>GoT</a:t>
            </a:r>
            <a:r>
              <a:rPr sz="2000" dirty="0"/>
              <a:t>): Allows thoughts to be aggregated, refined, and combined non-linearly.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Algorithm of Thoughts (AoT): Mimics human cognitive heuristics to explore the reasoning tree without explicit branching overhead.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Use case: Multi-step math, complex code refactoring, strategic planning, and autonomous agent orchestration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472056" cy="1143000"/>
          </a:xfrm>
        </p:spPr>
        <p:txBody>
          <a:bodyPr>
            <a:normAutofit/>
          </a:bodyPr>
          <a:lstStyle/>
          <a:p>
            <a:r>
              <a:rPr sz="3600" dirty="0"/>
              <a:t>Structured Output &amp; Constrained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472057" cy="4525963"/>
          </a:xfrm>
        </p:spPr>
        <p:txBody>
          <a:bodyPr/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Problem: LLMs are probabilistic; they hallucinate formats and break downstream parsers.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Solution 1: Prompting with strict JSON schemas and few-shot examples.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Solution 2: Constrained Decoding (CFG, Outlines, Instructor, LMQL).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Mechanism: At each token generation step, the engine masks out tokens that violate the JSON schema or Regex, forcing 100% valid output.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Impact: Enables LLMs to act as deterministic API endpoints, crucial for agentic tool-calling and function execution.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Grounding &amp; RAG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406743" cy="4525963"/>
          </a:xfrm>
        </p:spPr>
        <p:txBody>
          <a:bodyPr>
            <a:normAutofit/>
          </a:bodyPr>
          <a:lstStyle/>
          <a:p>
            <a:endParaRPr sz="2000"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Grounding: Anchoring LLM generation to verifiable, external, or proprietary data to eliminate hallucinations.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RAG (Retrieval-Augmented Generation): The paradigm of fetching relevant context *before* generation.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Why RAG? Fine-tuning is for *style/behavior*; RAG is for *knowledge*. It is cheaper, updatable in real-time, and provides citation capabilities.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The Prompt Role in RAG: Retrieved chunks must be clearly delimited (e.g., using XML tags) so the model knows what is context vs. instruction.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Core Directive: 'Answer ONLY using the provided context. If the answer is not in the context, state that you do not know.'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14314" cy="1143000"/>
          </a:xfrm>
        </p:spPr>
        <p:txBody>
          <a:bodyPr>
            <a:normAutofit/>
          </a:bodyPr>
          <a:lstStyle/>
          <a:p>
            <a:r>
              <a:rPr sz="3600" dirty="0"/>
              <a:t>Advanced RAG Prompting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0493829" cy="4525963"/>
          </a:xfrm>
        </p:spPr>
        <p:txBody>
          <a:bodyPr>
            <a:normAutofit/>
          </a:bodyPr>
          <a:lstStyle/>
          <a:p>
            <a:endParaRPr sz="1800" dirty="0"/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Query Transformation: Rewriting user queries for better retrieval (</a:t>
            </a:r>
            <a:r>
              <a:rPr sz="1800" dirty="0" err="1"/>
              <a:t>HyDE</a:t>
            </a:r>
            <a:r>
              <a:rPr sz="1800" dirty="0"/>
              <a:t> - Hypothetical Document Embeddings, Step-back prompting).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Context Compression: Using an LLM to extract only the relevant sentences from retrieved chunks before passing to the generator (</a:t>
            </a:r>
            <a:r>
              <a:rPr sz="1800" dirty="0" err="1"/>
              <a:t>LLMLingua</a:t>
            </a:r>
            <a:r>
              <a:rPr sz="1800" dirty="0"/>
              <a:t>).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Self-RAG / CRAG: The LLM dynamically decides *when* to retrieve, *how* to evaluate the retrieved context, and whether to generate or refuse.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Citation Prompting: Forcing the model to output inline citations mapping to specific context chunks (e.g., [1], [2]).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Prompt Routing: Using a lightweight classifier to route the prompt to different specialized RAG pipelines based on intent.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265229" cy="1143000"/>
          </a:xfrm>
        </p:spPr>
        <p:txBody>
          <a:bodyPr>
            <a:normAutofit fontScale="90000"/>
          </a:bodyPr>
          <a:lstStyle/>
          <a:p>
            <a:r>
              <a:rPr sz="3600" dirty="0"/>
              <a:t>Controlling Probability: Temperature &amp;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103429" cy="4525963"/>
          </a:xfrm>
        </p:spPr>
        <p:txBody>
          <a:bodyPr>
            <a:normAutofit/>
          </a:bodyPr>
          <a:lstStyle/>
          <a:p>
            <a:endParaRPr sz="1800" dirty="0"/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The Logits: Raw, unnormalized scores output by the final linear layer.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Temperature (T): Scales logits before </a:t>
            </a:r>
            <a:r>
              <a:rPr sz="1800" dirty="0" err="1"/>
              <a:t>softmax</a:t>
            </a:r>
            <a:r>
              <a:rPr sz="1800" dirty="0"/>
              <a:t>. </a:t>
            </a:r>
            <a:r>
              <a:rPr sz="1800" dirty="0" err="1"/>
              <a:t>P_i</a:t>
            </a:r>
            <a:r>
              <a:rPr sz="1800" dirty="0"/>
              <a:t> = exp(</a:t>
            </a:r>
            <a:r>
              <a:rPr sz="1800" dirty="0" err="1"/>
              <a:t>z_i</a:t>
            </a:r>
            <a:r>
              <a:rPr sz="1800" dirty="0"/>
              <a:t>/T) / sum(exp(</a:t>
            </a:r>
            <a:r>
              <a:rPr sz="1800" dirty="0" err="1"/>
              <a:t>z_j</a:t>
            </a:r>
            <a:r>
              <a:rPr sz="1800" dirty="0"/>
              <a:t>/T)). T-&gt;0 is greedy (argmax), T-&gt;infinity is uniform random.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Top-p (Nucleus): Dynamically selects the smallest set of tokens with cumulative probability &gt;= p. Better than Top-k for varying vocabulary confidence.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Frequency/Presence Penalties: Linearly penalizes logits of tokens that have already appeared, forcing lexical diversity.</a:t>
            </a:r>
          </a:p>
          <a:p>
            <a:pPr>
              <a:spcAft>
                <a:spcPts val="800"/>
              </a:spcAft>
              <a:defRPr sz="1600"/>
            </a:pPr>
            <a:r>
              <a:rPr sz="1800" dirty="0"/>
              <a:t>Logit Bias: Explicitly boosting or banning specific tokens (e.g., banning the token for 'I do not know' to force an answer).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633857" cy="1143000"/>
          </a:xfrm>
        </p:spPr>
        <p:txBody>
          <a:bodyPr/>
          <a:lstStyle/>
          <a:p>
            <a:r>
              <a:rPr dirty="0"/>
              <a:t>Prompt Evaluation &amp; </a:t>
            </a:r>
            <a:r>
              <a:rPr dirty="0" err="1"/>
              <a:t>LLMOps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526486" cy="4525963"/>
          </a:xfrm>
        </p:spPr>
        <p:txBody>
          <a:bodyPr/>
          <a:lstStyle/>
          <a:p>
            <a:endParaRPr dirty="0"/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The Challenge: 'Vibes-based' engineering does not scale. We need deterministic evaluation.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LLM-as-a-Judge: Using a stronger model (e.g., GPT-4) to grade the output of a weaker model based on a strict rubric.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RAGAS Framework: Evaluates RAG pipelines across Context Precision, Context Recall, Faithfulness (no hallucinations), and Answer Relevancy.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Semantic Similarity: Using embedding models (e.g., text-embedding-3-large) to measure cosine similarity between generated and reference answers.</a:t>
            </a:r>
          </a:p>
          <a:p>
            <a:pPr>
              <a:spcAft>
                <a:spcPts val="800"/>
              </a:spcAft>
              <a:defRPr sz="1600"/>
            </a:pPr>
            <a:r>
              <a:rPr sz="2000" dirty="0"/>
              <a:t>Regression Testing: Running a golden dataset of 500+ prompts on every prompt change to catch regressions in CI/CD pipelines.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</TotalTime>
  <Words>1203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Advanced Prompt Engineering &amp; LLM Orchestration</vt:lpstr>
      <vt:lpstr>What is Prompt Engineering? (Advanced Framing)</vt:lpstr>
      <vt:lpstr>The Anatomy of an Advanced Prompt</vt:lpstr>
      <vt:lpstr>In-Context Learning: Zero-Shot vs Few-Shot</vt:lpstr>
      <vt:lpstr>Chain-of-Thought (CoT) &amp; Reasoning</vt:lpstr>
      <vt:lpstr>Task Decomposition &amp; Advanced Reasoning</vt:lpstr>
      <vt:lpstr>Structured Output &amp; Constrained Generation</vt:lpstr>
      <vt:lpstr>Grounding &amp; RAG Introduction</vt:lpstr>
      <vt:lpstr>Advanced RAG Prompting Techniques</vt:lpstr>
      <vt:lpstr>Controlling Probability: Temperature &amp; Sampling</vt:lpstr>
      <vt:lpstr>Prompt Evaluation &amp; LLMOps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27</cp:revision>
  <dcterms:created xsi:type="dcterms:W3CDTF">2013-01-27T09:14:16Z</dcterms:created>
  <dcterms:modified xsi:type="dcterms:W3CDTF">2026-09-03T11:54:30Z</dcterms:modified>
  <cp:category/>
</cp:coreProperties>
</file>