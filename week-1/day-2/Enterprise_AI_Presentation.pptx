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8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9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0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9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5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3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0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26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88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4533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20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21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85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69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4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86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Enterprise AI &amp; GenAI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A Comprehensive 10-Slide Presentation</a:t>
            </a:r>
          </a:p>
          <a:p>
            <a:r>
              <a:t>Covering Foundation, Cloud AI, RAG, and Enterprise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54162"/>
          </a:xfrm>
        </p:spPr>
        <p:txBody>
          <a:bodyPr/>
          <a:lstStyle/>
          <a:p>
            <a:r>
              <a:rPr dirty="0"/>
              <a:t>AI Foundation: Real-World Enterprise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4744"/>
            <a:ext cx="8229600" cy="4101420"/>
          </a:xfrm>
        </p:spPr>
        <p:txBody>
          <a:bodyPr wrap="square">
            <a:normAutofit/>
          </a:bodyPr>
          <a:lstStyle/>
          <a:p>
            <a:pPr marL="0" indent="0">
              <a:buNone/>
              <a:defRPr sz="1800"/>
            </a:pPr>
            <a:endParaRPr lang="en-US" sz="2000" dirty="0"/>
          </a:p>
          <a:p>
            <a:pPr marL="0" indent="0">
              <a:buNone/>
              <a:defRPr sz="1800"/>
            </a:pPr>
            <a:r>
              <a:rPr lang="en-US" sz="2000" dirty="0"/>
              <a:t>- </a:t>
            </a:r>
            <a:r>
              <a:rPr sz="2000" dirty="0"/>
              <a:t>Customer Service: AI-powered chatbots handling 80%+ of routine inquiries.</a:t>
            </a:r>
          </a:p>
          <a:p>
            <a:pPr marL="0" indent="0">
              <a:buNone/>
              <a:defRPr sz="1800"/>
            </a:pPr>
            <a:r>
              <a:rPr sz="2000" dirty="0"/>
              <a:t>- Healthcare: Medical imaging analysis for early disease detection.</a:t>
            </a:r>
          </a:p>
          <a:p>
            <a:pPr marL="0" indent="0">
              <a:buNone/>
              <a:defRPr sz="1800"/>
            </a:pPr>
            <a:r>
              <a:rPr sz="2000" dirty="0"/>
              <a:t>- Finance: Fraud detection systems analyzing millions of transactions in real-time.</a:t>
            </a:r>
          </a:p>
          <a:p>
            <a:pPr marL="0" indent="0">
              <a:buNone/>
              <a:defRPr sz="1800"/>
            </a:pPr>
            <a:r>
              <a:rPr sz="2000" dirty="0"/>
              <a:t>- Manufacturing: Predictive maintenance using IoT sensor data.</a:t>
            </a:r>
          </a:p>
          <a:p>
            <a:pPr marL="0" indent="0">
              <a:buNone/>
              <a:defRPr sz="1800"/>
            </a:pPr>
            <a:r>
              <a:rPr sz="2000" dirty="0"/>
              <a:t>- Retail: Personalized recommendation engines driving conversion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GenAI Fundamentals: Prompt Engineering &amp;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9171"/>
            <a:ext cx="8229600" cy="4046992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  <a:defRPr sz="1800"/>
            </a:pPr>
            <a:r>
              <a:rPr dirty="0"/>
              <a:t>- </a:t>
            </a:r>
            <a:r>
              <a:rPr sz="2400" dirty="0"/>
              <a:t>Prompt Engineering:</a:t>
            </a:r>
          </a:p>
          <a:p>
            <a:pPr marL="457200" lvl="1" indent="0">
              <a:buNone/>
              <a:defRPr sz="1800"/>
            </a:pPr>
            <a:r>
              <a:rPr sz="2400" dirty="0"/>
              <a:t>* Crafting inputs to guide LLMs toward desired outputs.</a:t>
            </a:r>
          </a:p>
          <a:p>
            <a:pPr marL="457200" lvl="1" indent="0">
              <a:buNone/>
              <a:defRPr sz="1800"/>
            </a:pPr>
            <a:r>
              <a:rPr sz="2400" dirty="0"/>
              <a:t>* Techniques: Zero-shot, Few-shot, Chain-of-Thought (</a:t>
            </a:r>
            <a:r>
              <a:rPr sz="2400" dirty="0" err="1"/>
              <a:t>CoT</a:t>
            </a:r>
            <a:r>
              <a:rPr sz="2400" dirty="0"/>
              <a:t>), Role-playing.</a:t>
            </a:r>
          </a:p>
          <a:p>
            <a:pPr marL="0" indent="0">
              <a:buNone/>
              <a:defRPr sz="1800"/>
            </a:pPr>
            <a:r>
              <a:rPr sz="2400" dirty="0"/>
              <a:t>- Embeddings:</a:t>
            </a:r>
          </a:p>
          <a:p>
            <a:pPr marL="457200" lvl="1" indent="0">
              <a:buNone/>
              <a:defRPr sz="1800"/>
            </a:pPr>
            <a:r>
              <a:rPr sz="2400" dirty="0"/>
              <a:t>* Numerical representations of text in high-dimensional vector space.</a:t>
            </a:r>
          </a:p>
          <a:p>
            <a:pPr marL="457200" lvl="1" indent="0">
              <a:buNone/>
              <a:defRPr sz="1800"/>
            </a:pPr>
            <a:r>
              <a:rPr sz="2400" dirty="0"/>
              <a:t>* Capture semantic meaning, enabling similarity searches.</a:t>
            </a:r>
          </a:p>
          <a:p>
            <a:pPr marL="457200" lvl="1" indent="0">
              <a:buNone/>
              <a:defRPr sz="1800"/>
            </a:pPr>
            <a:r>
              <a:rPr sz="2400" dirty="0"/>
              <a:t>* Foundation for Retrieval-Augmented Generation (RAG).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 fontScale="90000"/>
          </a:bodyPr>
          <a:lstStyle/>
          <a:p>
            <a:r>
              <a:rPr dirty="0"/>
              <a:t>GenAI Fundamentals: Inference &amp; Multimodal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6514"/>
            <a:ext cx="8229600" cy="4079649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dirty="0"/>
              <a:t>- </a:t>
            </a:r>
            <a:r>
              <a:rPr sz="2400" dirty="0"/>
              <a:t>Inference:</a:t>
            </a:r>
          </a:p>
          <a:p>
            <a:pPr marL="457200" lvl="1" indent="0">
              <a:buNone/>
              <a:defRPr sz="1800"/>
            </a:pPr>
            <a:r>
              <a:rPr sz="2400" dirty="0"/>
              <a:t>* Using a trained AI model to make predictions or generate content.</a:t>
            </a:r>
          </a:p>
          <a:p>
            <a:pPr marL="457200" lvl="1" indent="0">
              <a:buNone/>
              <a:defRPr sz="1800"/>
            </a:pPr>
            <a:r>
              <a:rPr sz="2400" dirty="0"/>
              <a:t>* Key metrics: Latency, throughput, and cost per token.</a:t>
            </a:r>
          </a:p>
          <a:p>
            <a:pPr marL="457200" lvl="1" indent="0">
              <a:buNone/>
              <a:defRPr sz="1800"/>
            </a:pPr>
            <a:r>
              <a:rPr sz="2400" dirty="0"/>
              <a:t>* Optimization: Quantization, pruning, speculative decoding.</a:t>
            </a:r>
          </a:p>
          <a:p>
            <a:pPr marL="0" indent="0">
              <a:buNone/>
              <a:defRPr sz="1800"/>
            </a:pPr>
            <a:r>
              <a:rPr sz="2400" dirty="0"/>
              <a:t>- Multimodal AI:</a:t>
            </a:r>
          </a:p>
          <a:p>
            <a:pPr marL="457200" lvl="1" indent="0">
              <a:buNone/>
              <a:defRPr sz="1800"/>
            </a:pPr>
            <a:r>
              <a:rPr sz="2400" dirty="0"/>
              <a:t>* Models processing multiple data types (text, images, audio, video).</a:t>
            </a:r>
          </a:p>
          <a:p>
            <a:pPr marL="457200" lvl="1" indent="0">
              <a:buNone/>
              <a:defRPr sz="1800"/>
            </a:pPr>
            <a:r>
              <a:rPr sz="2400" dirty="0"/>
              <a:t>* Examples: GPT-4V, Claude 3, Gemini.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09876"/>
          </a:xfrm>
        </p:spPr>
        <p:txBody>
          <a:bodyPr>
            <a:normAutofit fontScale="90000"/>
          </a:bodyPr>
          <a:lstStyle/>
          <a:p>
            <a:r>
              <a:rPr dirty="0"/>
              <a:t>AI on Cloud: Services, APIs, and SDKs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229600" cy="4123192"/>
          </a:xfrm>
        </p:spPr>
        <p:txBody>
          <a:bodyPr wrap="square">
            <a:noAutofit/>
          </a:bodyPr>
          <a:lstStyle/>
          <a:p>
            <a:pPr>
              <a:defRPr sz="1800"/>
            </a:pPr>
            <a:r>
              <a:rPr sz="2400" dirty="0"/>
              <a:t>- Cloud AI Services:</a:t>
            </a:r>
          </a:p>
          <a:p>
            <a:pPr lvl="1">
              <a:defRPr sz="1800"/>
            </a:pPr>
            <a:r>
              <a:rPr sz="2400" dirty="0"/>
              <a:t>* Managed services (AWS SageMaker, Azure AI, Google Vertex AI).</a:t>
            </a:r>
          </a:p>
          <a:p>
            <a:pPr lvl="1">
              <a:defRPr sz="1800"/>
            </a:pPr>
            <a:r>
              <a:rPr sz="2400" dirty="0"/>
              <a:t>* Benefits: Scalability, reduced infrastructure management, security.</a:t>
            </a:r>
          </a:p>
          <a:p>
            <a:pPr>
              <a:defRPr sz="1800"/>
            </a:pPr>
            <a:r>
              <a:rPr sz="2400" dirty="0"/>
              <a:t>- AI APIs and SDKs:</a:t>
            </a:r>
          </a:p>
          <a:p>
            <a:pPr lvl="1">
              <a:defRPr sz="1800"/>
            </a:pPr>
            <a:r>
              <a:rPr sz="2400" dirty="0"/>
              <a:t>* APIs: RESTful endpoints for LLM, vision, and speech model integration.</a:t>
            </a:r>
          </a:p>
          <a:p>
            <a:pPr lvl="1">
              <a:defRPr sz="1800"/>
            </a:pPr>
            <a:r>
              <a:rPr sz="2400" dirty="0"/>
              <a:t>* SDKs: Libraries (Python, JS, Java) simplifying auth, rate limiting, streaming.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AI on Cloud: Basic AI 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9171"/>
            <a:ext cx="8229600" cy="4046992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800"/>
            </a:pPr>
            <a:r>
              <a:rPr sz="2400" dirty="0"/>
              <a:t>- User Interface: Web or mobile app for user interaction.</a:t>
            </a:r>
          </a:p>
          <a:p>
            <a:pPr marL="0" indent="0">
              <a:buNone/>
              <a:defRPr sz="1800"/>
            </a:pPr>
            <a:r>
              <a:rPr sz="2400" dirty="0"/>
              <a:t>- Application Layer: Backend logic (Python/</a:t>
            </a:r>
            <a:r>
              <a:rPr sz="2400" dirty="0" err="1"/>
              <a:t>FastAPI</a:t>
            </a:r>
            <a:r>
              <a:rPr sz="2400" dirty="0"/>
              <a:t>, Node.js) for business rules.</a:t>
            </a:r>
          </a:p>
          <a:p>
            <a:pPr marL="0" indent="0">
              <a:buNone/>
              <a:defRPr sz="1800"/>
            </a:pPr>
            <a:r>
              <a:rPr sz="2400" dirty="0"/>
              <a:t>- AI Orchestration Layer: Frameworks like </a:t>
            </a:r>
            <a:r>
              <a:rPr sz="2400" dirty="0" err="1"/>
              <a:t>LangChain</a:t>
            </a:r>
            <a:r>
              <a:rPr sz="2400" dirty="0"/>
              <a:t> or Llama Index.</a:t>
            </a:r>
          </a:p>
          <a:p>
            <a:pPr marL="0" indent="0">
              <a:buNone/>
              <a:defRPr sz="1800"/>
            </a:pPr>
            <a:r>
              <a:rPr sz="2400" dirty="0"/>
              <a:t>- Model Layer: Cloud-hosted LLMs or open-source models on cloud GPUs.</a:t>
            </a:r>
          </a:p>
          <a:p>
            <a:pPr marL="0" indent="0">
              <a:buNone/>
              <a:defRPr sz="1800"/>
            </a:pPr>
            <a:r>
              <a:rPr sz="2400" dirty="0"/>
              <a:t>- Data Layer: Traditional databases (SQL/NoSQL) + vector databases.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53419"/>
          </a:xfrm>
        </p:spPr>
        <p:txBody>
          <a:bodyPr>
            <a:noAutofit/>
          </a:bodyPr>
          <a:lstStyle/>
          <a:p>
            <a:r>
              <a:rPr sz="3200" dirty="0"/>
              <a:t>AI + Enterprise Data &amp; RAG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1714"/>
            <a:ext cx="8229600" cy="4561115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800"/>
            </a:pPr>
            <a:r>
              <a:rPr sz="2400" dirty="0"/>
              <a:t>- AI + Enterprise Data:</a:t>
            </a:r>
          </a:p>
          <a:p>
            <a:pPr marL="457200" lvl="1" indent="0">
              <a:buNone/>
              <a:defRPr sz="1800"/>
            </a:pPr>
            <a:r>
              <a:rPr sz="2400" dirty="0"/>
              <a:t>* Connecting generic LLMs to proprietary, up-to-date data without retraining.</a:t>
            </a:r>
          </a:p>
          <a:p>
            <a:pPr marL="0" indent="0">
              <a:buNone/>
              <a:defRPr sz="1800"/>
            </a:pPr>
            <a:r>
              <a:rPr sz="2400" dirty="0"/>
              <a:t>- RAG (Retrieval-Augmented Generation) Fundamentals:</a:t>
            </a:r>
          </a:p>
          <a:p>
            <a:pPr marL="457200" lvl="1" indent="0">
              <a:buNone/>
              <a:defRPr sz="1800"/>
            </a:pPr>
            <a:r>
              <a:rPr sz="2400" dirty="0"/>
              <a:t>* Step 1: Ingest enterprise documents and split into chunks.</a:t>
            </a:r>
          </a:p>
          <a:p>
            <a:pPr marL="457200" lvl="1" indent="0">
              <a:buNone/>
              <a:defRPr sz="1800"/>
            </a:pPr>
            <a:r>
              <a:rPr sz="2400" dirty="0"/>
              <a:t>* Step 2: Generate embeddings and store in a vector database.</a:t>
            </a:r>
          </a:p>
          <a:p>
            <a:pPr marL="457200" lvl="1" indent="0">
              <a:buNone/>
              <a:defRPr sz="1800"/>
            </a:pPr>
            <a:r>
              <a:rPr sz="2400" dirty="0"/>
              <a:t>* Step 3: Embed user query and retrieve the most relevant chunks.</a:t>
            </a:r>
          </a:p>
          <a:p>
            <a:pPr marL="457200" lvl="1" indent="0">
              <a:buNone/>
              <a:defRPr sz="1800"/>
            </a:pPr>
            <a:r>
              <a:rPr sz="2400" dirty="0"/>
              <a:t>* Step 4: Pass retrieved chunks as context to the LLM for accurate, cited responses.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777547" cy="1400530"/>
          </a:xfrm>
        </p:spPr>
        <p:txBody>
          <a:bodyPr/>
          <a:lstStyle/>
          <a:p>
            <a:r>
              <a:rPr sz="3200" dirty="0"/>
              <a:t>Vector Databases and Embeddings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3230"/>
            <a:ext cx="8229600" cy="4242934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  <a:defRPr sz="1800"/>
            </a:pPr>
            <a:r>
              <a:rPr sz="2400" dirty="0"/>
              <a:t>- Vector Databases:</a:t>
            </a:r>
          </a:p>
          <a:p>
            <a:pPr marL="457200" lvl="1" indent="0">
              <a:buNone/>
              <a:defRPr sz="1800"/>
            </a:pPr>
            <a:r>
              <a:rPr sz="2400" dirty="0"/>
              <a:t>* Optimized for storing and querying high-dimensional vectors.</a:t>
            </a:r>
          </a:p>
          <a:p>
            <a:pPr marL="457200" lvl="1" indent="0">
              <a:buNone/>
              <a:defRPr sz="1800"/>
            </a:pPr>
            <a:r>
              <a:rPr sz="2400" dirty="0"/>
              <a:t>* Popular options: Pinecone, Milvus, </a:t>
            </a:r>
            <a:r>
              <a:rPr sz="2400" dirty="0" err="1"/>
              <a:t>Qdrant</a:t>
            </a:r>
            <a:r>
              <a:rPr sz="2400" dirty="0"/>
              <a:t>, </a:t>
            </a:r>
            <a:r>
              <a:rPr sz="2400" dirty="0" err="1"/>
              <a:t>Weaviate</a:t>
            </a:r>
            <a:r>
              <a:rPr sz="2400" dirty="0"/>
              <a:t>, </a:t>
            </a:r>
            <a:r>
              <a:rPr sz="2400" dirty="0" err="1"/>
              <a:t>pgvector</a:t>
            </a:r>
            <a:r>
              <a:rPr sz="2400" dirty="0"/>
              <a:t>.</a:t>
            </a:r>
          </a:p>
          <a:p>
            <a:pPr marL="0" indent="0">
              <a:buNone/>
              <a:defRPr sz="1800"/>
            </a:pPr>
            <a:r>
              <a:rPr sz="2400" dirty="0"/>
              <a:t>- Embeddings in Practice:</a:t>
            </a:r>
          </a:p>
          <a:p>
            <a:pPr marL="457200" lvl="1" indent="0">
              <a:buNone/>
              <a:defRPr sz="1800"/>
            </a:pPr>
            <a:r>
              <a:rPr sz="2400" dirty="0"/>
              <a:t>* Model choice matters (e.g., OpenAI text-embedding-3-small, BGE).</a:t>
            </a:r>
          </a:p>
          <a:p>
            <a:pPr marL="457200" lvl="1" indent="0">
              <a:buNone/>
              <a:defRPr sz="1800"/>
            </a:pPr>
            <a:r>
              <a:rPr sz="2400" dirty="0"/>
              <a:t>* Considerations: Dimension size, max token length, multilingual support.</a:t>
            </a:r>
          </a:p>
          <a:p>
            <a:pPr marL="457200" lvl="1" indent="0">
              <a:buNone/>
              <a:defRPr sz="1800"/>
            </a:pPr>
            <a:r>
              <a:rPr sz="2400" dirty="0"/>
              <a:t>* Hybrid Search: Combining vector (semantic) and keyword (BM25) search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Enterprise AI: Security, Governance &amp;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3857"/>
            <a:ext cx="8229600" cy="4112306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  <a:defRPr sz="1800"/>
            </a:pPr>
            <a:r>
              <a:rPr sz="2400" dirty="0"/>
              <a:t>- AI Security:</a:t>
            </a:r>
          </a:p>
          <a:p>
            <a:pPr marL="457200" lvl="1" indent="0">
              <a:buNone/>
              <a:defRPr sz="1800"/>
            </a:pPr>
            <a:r>
              <a:rPr sz="2400" dirty="0"/>
              <a:t>* Protecting against prompt injection, data leakage, model poisoning.</a:t>
            </a:r>
          </a:p>
          <a:p>
            <a:pPr marL="457200" lvl="1" indent="0">
              <a:buNone/>
              <a:defRPr sz="1800"/>
            </a:pPr>
            <a:r>
              <a:rPr sz="2400" dirty="0"/>
              <a:t>* Robust access controls and API key management.</a:t>
            </a:r>
          </a:p>
          <a:p>
            <a:pPr marL="0" indent="0">
              <a:buNone/>
              <a:defRPr sz="1800"/>
            </a:pPr>
            <a:r>
              <a:rPr sz="2400" dirty="0"/>
              <a:t>- AI Governance:</a:t>
            </a:r>
          </a:p>
          <a:p>
            <a:pPr marL="457200" lvl="1" indent="0">
              <a:buNone/>
              <a:defRPr sz="1800"/>
            </a:pPr>
            <a:r>
              <a:rPr sz="2400" dirty="0"/>
              <a:t>* Policies for model approval, usage tracking, audit trails.</a:t>
            </a:r>
          </a:p>
          <a:p>
            <a:pPr marL="457200" lvl="1" indent="0">
              <a:buNone/>
              <a:defRPr sz="1800"/>
            </a:pPr>
            <a:r>
              <a:rPr sz="2400" dirty="0"/>
              <a:t>* Aligning with regulations (EU AI Act, NIST AI RMF).</a:t>
            </a:r>
          </a:p>
          <a:p>
            <a:pPr marL="0" indent="0">
              <a:buNone/>
              <a:defRPr sz="1800"/>
            </a:pPr>
            <a:r>
              <a:rPr sz="2400" dirty="0"/>
              <a:t>- Responsible AI:</a:t>
            </a:r>
          </a:p>
          <a:p>
            <a:pPr marL="457200" lvl="1" indent="0">
              <a:buNone/>
              <a:defRPr sz="1800"/>
            </a:pPr>
            <a:r>
              <a:rPr sz="2400" dirty="0"/>
              <a:t>* Ensuring fairness, transparency, accountability.</a:t>
            </a:r>
          </a:p>
          <a:p>
            <a:pPr marL="457200" lvl="1" indent="0">
              <a:buNone/>
              <a:defRPr sz="1800"/>
            </a:pPr>
            <a:r>
              <a:rPr sz="2400" dirty="0"/>
              <a:t>* Mitigating bias through continuous monitoring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8229599" cy="1400530"/>
          </a:xfrm>
        </p:spPr>
        <p:txBody>
          <a:bodyPr>
            <a:noAutofit/>
          </a:bodyPr>
          <a:lstStyle/>
          <a:p>
            <a:r>
              <a:rPr sz="2800" dirty="0"/>
              <a:t>Enterprise AI: Privacy, Hallucination, Cost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4886"/>
            <a:ext cx="8229600" cy="4591278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800"/>
            </a:pPr>
            <a:r>
              <a:rPr dirty="0"/>
              <a:t>- Data Privacy:</a:t>
            </a:r>
          </a:p>
          <a:p>
            <a:pPr marL="457200" lvl="1" indent="0">
              <a:buNone/>
              <a:defRPr sz="1800"/>
            </a:pPr>
            <a:r>
              <a:rPr sz="2000" dirty="0"/>
              <a:t>* Ensuring PII is masked or excluded from prompts.</a:t>
            </a:r>
          </a:p>
          <a:p>
            <a:pPr marL="457200" lvl="1" indent="0">
              <a:buNone/>
              <a:defRPr sz="1800"/>
            </a:pPr>
            <a:r>
              <a:rPr sz="2000" dirty="0"/>
              <a:t>* Enterprise agreements guaranteeing data is not used for model training.</a:t>
            </a:r>
          </a:p>
          <a:p>
            <a:pPr marL="0" indent="0">
              <a:buNone/>
              <a:defRPr sz="1800"/>
            </a:pPr>
            <a:r>
              <a:rPr dirty="0"/>
              <a:t>- Hallucination:</a:t>
            </a:r>
          </a:p>
          <a:p>
            <a:pPr marL="457200" lvl="1" indent="0">
              <a:buNone/>
              <a:defRPr sz="1800"/>
            </a:pPr>
            <a:r>
              <a:rPr sz="2000" dirty="0"/>
              <a:t>* Mitigated via RAG, strict prompt constraints, output validation/guardrails.</a:t>
            </a:r>
          </a:p>
          <a:p>
            <a:pPr marL="0" indent="0">
              <a:buNone/>
              <a:defRPr sz="1800"/>
            </a:pPr>
            <a:r>
              <a:rPr dirty="0"/>
              <a:t>- Cost &amp; Performance:</a:t>
            </a:r>
          </a:p>
          <a:p>
            <a:pPr marL="457200" lvl="1" indent="0">
              <a:buNone/>
              <a:defRPr sz="1800"/>
            </a:pPr>
            <a:r>
              <a:rPr sz="2000" dirty="0"/>
              <a:t>* Balancing model capability (e.g., GPT-4 vs. GPT-3.5) with token costs.</a:t>
            </a:r>
          </a:p>
          <a:p>
            <a:pPr marL="457200" lvl="1" indent="0">
              <a:buNone/>
              <a:defRPr sz="1800"/>
            </a:pPr>
            <a:r>
              <a:rPr sz="2000" dirty="0"/>
              <a:t>* Optimizing via caching, batching, and task-specific model selection.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722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Enterprise AI &amp; GenAI Fundamentals</vt:lpstr>
      <vt:lpstr>AI Foundation: Real-World Enterprise Examples</vt:lpstr>
      <vt:lpstr>GenAI Fundamentals: Prompt Engineering &amp; Embeddings</vt:lpstr>
      <vt:lpstr>GenAI Fundamentals: Inference &amp; Multimodal AI</vt:lpstr>
      <vt:lpstr>AI on Cloud: Services, APIs, and SDKs</vt:lpstr>
      <vt:lpstr>AI on Cloud: Basic AI Application Architecture</vt:lpstr>
      <vt:lpstr>AI + Enterprise Data &amp; RAG Fundamentals</vt:lpstr>
      <vt:lpstr>Vector Databases and Embeddings in Practice</vt:lpstr>
      <vt:lpstr>Enterprise AI: Security, Governance &amp; Responsible AI</vt:lpstr>
      <vt:lpstr>Enterprise AI: Privacy, Hallucination, Cost &amp;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20</cp:revision>
  <dcterms:created xsi:type="dcterms:W3CDTF">2013-01-27T09:14:16Z</dcterms:created>
  <dcterms:modified xsi:type="dcterms:W3CDTF">2026-09-03T18:02:12Z</dcterms:modified>
  <cp:category/>
</cp:coreProperties>
</file>