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0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69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8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6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8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1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27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12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6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0058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65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02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91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21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8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909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Architecture, Design &amp; Solutioning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Foundational Understanding &amp; Strategic Implementation</a:t>
            </a:r>
          </a:p>
          <a:p>
            <a:r>
              <a:t>A Professional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8779033" cy="1245453"/>
          </a:xfrm>
        </p:spPr>
        <p:txBody>
          <a:bodyPr/>
          <a:lstStyle/>
          <a:p>
            <a:r>
              <a:rPr dirty="0"/>
              <a:t>Agenda &amp;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58687"/>
            <a:ext cx="6711654" cy="4789720"/>
          </a:xfrm>
        </p:spPr>
        <p:txBody>
          <a:bodyPr wrap="square">
            <a:normAutofit fontScale="92500" lnSpcReduction="1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Core Concepts &amp; Pillars (20 Mins)</a:t>
            </a:r>
          </a:p>
          <a:p>
            <a:pPr>
              <a:defRPr sz="2000"/>
            </a:pPr>
            <a:r>
              <a:rPr dirty="0"/>
              <a:t>  - AI-Driven Infrastructure Selection</a:t>
            </a:r>
          </a:p>
          <a:p>
            <a:pPr>
              <a:defRPr sz="2000"/>
            </a:pPr>
            <a:r>
              <a:rPr dirty="0"/>
              <a:t>  - Architectural Trade-offs (The '</a:t>
            </a:r>
            <a:r>
              <a:rPr dirty="0" err="1"/>
              <a:t>Ilities</a:t>
            </a:r>
            <a:r>
              <a:rPr dirty="0"/>
              <a:t>')</a:t>
            </a:r>
          </a:p>
          <a:p>
            <a:pPr>
              <a:defRPr sz="2000"/>
            </a:pPr>
            <a:r>
              <a:rPr dirty="0"/>
              <a:t>  - Agentic vs. Pipeline Architectures</a:t>
            </a:r>
          </a:p>
          <a:p>
            <a:pPr>
              <a:defRPr sz="2000"/>
            </a:pPr>
            <a:r>
              <a:rPr dirty="0"/>
              <a:t>Solutioning &amp; Integration Patterns (30 Mins)</a:t>
            </a:r>
          </a:p>
          <a:p>
            <a:pPr>
              <a:defRPr sz="2000"/>
            </a:pPr>
            <a:r>
              <a:rPr dirty="0"/>
              <a:t>  - RAG Architecture, Fine-Tuning vs. Prompt Engineering</a:t>
            </a:r>
          </a:p>
          <a:p>
            <a:pPr>
              <a:defRPr sz="2000"/>
            </a:pPr>
            <a:r>
              <a:rPr dirty="0"/>
              <a:t>  - API &amp; System Integration</a:t>
            </a:r>
          </a:p>
          <a:p>
            <a:pPr>
              <a:defRPr sz="2000"/>
            </a:pPr>
            <a:r>
              <a:rPr dirty="0"/>
              <a:t>Lifecycle, Governance &amp; Performance (25 Mins)</a:t>
            </a:r>
          </a:p>
          <a:p>
            <a:pPr>
              <a:defRPr sz="2000"/>
            </a:pPr>
            <a:r>
              <a:rPr dirty="0"/>
              <a:t>  - </a:t>
            </a:r>
            <a:r>
              <a:rPr dirty="0" err="1"/>
              <a:t>LLMOps</a:t>
            </a:r>
            <a:r>
              <a:rPr dirty="0"/>
              <a:t>/</a:t>
            </a:r>
            <a:r>
              <a:rPr dirty="0" err="1"/>
              <a:t>MLOps</a:t>
            </a:r>
            <a:r>
              <a:rPr dirty="0"/>
              <a:t>, Observability, Cost &amp; Latency Optimization</a:t>
            </a:r>
          </a:p>
          <a:p>
            <a:pPr>
              <a:defRPr sz="2000"/>
            </a:pPr>
            <a:r>
              <a:rPr dirty="0"/>
              <a:t>Interactive Case Study &amp; Solutioning (15 Mins)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Infrastructure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/>
          </a:p>
          <a:p>
            <a:pPr>
              <a:defRPr sz="2000"/>
            </a:pPr>
            <a:r>
              <a:t>Automated Workload Matching: Dynamically route tasks to optimal compute (CPUs, GPUs, TPUs).</a:t>
            </a:r>
          </a:p>
          <a:p>
            <a:pPr>
              <a:defRPr sz="2000"/>
            </a:pPr>
            <a:r>
              <a:t>Cloud Instance Optimization: Select instances based on real-time cost, latency, and throughput metrics.</a:t>
            </a:r>
          </a:p>
          <a:p>
            <a:pPr>
              <a:defRPr sz="2000"/>
            </a:pPr>
            <a:r>
              <a:t>Elastic Scaling: Auto-scaling groups tailored for bursty AI inference workloads.</a:t>
            </a:r>
          </a:p>
          <a:p>
            <a:pPr>
              <a:defRPr sz="2000"/>
            </a:pPr>
            <a:r>
              <a:t>Key Benefit: Maximizes ROI by preventing over-provisioning while guaranteeing performance SLAs.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Trade-offs (The 'Ilities')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2000"/>
            </a:pPr>
            <a:r>
              <a:t>Scalability: Handling massive concurrent inference requests without degradation.</a:t>
            </a:r>
          </a:p>
          <a:p>
            <a:pPr>
              <a:defRPr sz="2000"/>
            </a:pPr>
            <a:r>
              <a:t>Reliability: Ensuring high availability and graceful degradation when models fail.</a:t>
            </a:r>
          </a:p>
          <a:p>
            <a:pPr>
              <a:defRPr sz="2000"/>
            </a:pPr>
            <a:r>
              <a:t>Maintainability: Modular design for easy model swapping and dependency updates.</a:t>
            </a:r>
          </a:p>
          <a:p>
            <a:pPr>
              <a:defRPr sz="2000"/>
            </a:pPr>
            <a:r>
              <a:t>Security: Protecting model weights, preventing data leakage, and securing inference endpoints.</a:t>
            </a:r>
          </a:p>
          <a:p>
            <a:pPr>
              <a:defRPr sz="2000"/>
            </a:pPr>
            <a:r>
              <a:t>Trade-off Reality: Optimizing for extreme low latency may increase infrastructure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vs. Pipeline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pPr>
              <a:defRPr sz="2000"/>
            </a:pPr>
            <a:r>
              <a:t>Pipeline Architectures:</a:t>
            </a:r>
          </a:p>
          <a:p>
            <a:pPr>
              <a:defRPr sz="2000"/>
            </a:pPr>
            <a:r>
              <a:t>  - Deterministic, step-by-step data processing (e.g., ETL -&gt; Embed -&gt; Retrieve -&gt; Generate).</a:t>
            </a:r>
          </a:p>
          <a:p>
            <a:pPr>
              <a:defRPr sz="2000"/>
            </a:pPr>
            <a:r>
              <a:t>  - Best for: Predictable, well-defined tasks with strict compliance needs.</a:t>
            </a:r>
          </a:p>
          <a:p>
            <a:pPr>
              <a:defRPr sz="2000"/>
            </a:pPr>
            <a:r>
              <a:t>Agentic Architectures:</a:t>
            </a:r>
          </a:p>
          <a:p>
            <a:pPr>
              <a:defRPr sz="2000"/>
            </a:pPr>
            <a:r>
              <a:t>  - Multi-agent orchestration with autonomous decision-making and tool usage.</a:t>
            </a:r>
          </a:p>
          <a:p>
            <a:pPr>
              <a:defRPr sz="2000"/>
            </a:pPr>
            <a:r>
              <a:t>  - Best for: Complex, ambiguous problems requiring dynamic reasoning and adaptation.</a:t>
            </a:r>
          </a:p>
          <a:p>
            <a:pPr>
              <a:defRPr sz="2000"/>
            </a:pPr>
            <a:r>
              <a:t>Design Choice: Balance control and predictability (Pipeline) vs. flexibility and autonomy (Agentic).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Retrieval-Augmented Generation (RAG)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2000"/>
            </a:pPr>
            <a:r>
              <a:t>Vector Databases: Scalable storage for high-dimensional embeddings (e.g., Pinecone, Milvus).</a:t>
            </a:r>
          </a:p>
          <a:p>
            <a:pPr>
              <a:defRPr sz="2000"/>
            </a:pPr>
            <a:r>
              <a:t>Chunking Strategies: Semantic, fixed-size, or document-specific chunking to optimize context retrieval.</a:t>
            </a:r>
          </a:p>
          <a:p>
            <a:pPr>
              <a:defRPr sz="2000"/>
            </a:pPr>
            <a:r>
              <a:t>Embedding Pipelines: Continuous updating of vector stores as private data evolves.</a:t>
            </a:r>
          </a:p>
          <a:p>
            <a:pPr>
              <a:defRPr sz="2000"/>
            </a:pPr>
            <a:r>
              <a:t>Value Proposition: Connects LLMs to private, up-to-date data without retraining, reducing hallucinations.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Fine-Tuning vs. Prompt Engineering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/>
          </a:p>
          <a:p>
            <a:pPr>
              <a:defRPr sz="2000"/>
            </a:pPr>
            <a:r>
              <a:t>Prompt Engineering (Runtime Context Injection):</a:t>
            </a:r>
          </a:p>
          <a:p>
            <a:pPr>
              <a:defRPr sz="2000"/>
            </a:pPr>
            <a:r>
              <a:t>  - Use when: Data is highly dynamic, cost needs to be low, and rapid iteration is required.</a:t>
            </a:r>
          </a:p>
          <a:p>
            <a:pPr>
              <a:defRPr sz="2000"/>
            </a:pPr>
            <a:r>
              <a:t>  - Architecture: RAG + sophisticated prompt templates.</a:t>
            </a:r>
          </a:p>
          <a:p>
            <a:pPr>
              <a:defRPr sz="2000"/>
            </a:pPr>
            <a:r>
              <a:t>Fine-Tuning (Retraining Model Weights):</a:t>
            </a:r>
          </a:p>
          <a:p>
            <a:pPr>
              <a:defRPr sz="2000"/>
            </a:pPr>
            <a:r>
              <a:t>  - Use when: Domain-specific language, tone, or complex reasoning patterns are needed.</a:t>
            </a:r>
          </a:p>
          <a:p>
            <a:pPr>
              <a:defRPr sz="2000"/>
            </a:pPr>
            <a:r>
              <a:t>  - Architecture: LoRA/QLoRA pipelines with curated, high-quality datasets.</a:t>
            </a:r>
          </a:p>
          <a:p>
            <a:pPr>
              <a:defRPr sz="2000"/>
            </a:pPr>
            <a:r>
              <a:t>Hybrid Approach: Fine-tune for domain adaptation, use RAG for factual, up-to-date knowledge.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&amp; 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32193"/>
            <a:ext cx="6711654" cy="4816213"/>
          </a:xfrm>
        </p:spPr>
        <p:txBody>
          <a:bodyPr wrap="square">
            <a:normAutofit lnSpcReduction="1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REST APIs: Standard, synchronous integration for simple, request-response AI features.</a:t>
            </a:r>
          </a:p>
          <a:p>
            <a:pPr>
              <a:defRPr sz="2000"/>
            </a:pPr>
            <a:r>
              <a:rPr dirty="0" err="1"/>
              <a:t>gRPC</a:t>
            </a:r>
            <a:r>
              <a:rPr dirty="0"/>
              <a:t>: High-performance, low-latency communication for internal microservices and heavy payload transfers.</a:t>
            </a:r>
          </a:p>
          <a:p>
            <a:pPr>
              <a:defRPr sz="2000"/>
            </a:pPr>
            <a:r>
              <a:rPr dirty="0"/>
              <a:t>Asynchronous Event Streams (Kafka, RabbitMQ):</a:t>
            </a:r>
          </a:p>
          <a:p>
            <a:pPr>
              <a:defRPr sz="2000"/>
            </a:pPr>
            <a:r>
              <a:rPr dirty="0"/>
              <a:t>  - Decouples AI processing from core enterprise systems.</a:t>
            </a:r>
          </a:p>
          <a:p>
            <a:pPr>
              <a:defRPr sz="2000"/>
            </a:pPr>
            <a:r>
              <a:rPr dirty="0"/>
              <a:t>  - Ideal for long-running inference jobs, batch processing, and event-driven AI agents.</a:t>
            </a:r>
          </a:p>
          <a:p>
            <a:pPr>
              <a:defRPr sz="2000"/>
            </a:pPr>
            <a:r>
              <a:rPr dirty="0"/>
              <a:t>Legacy Integration: Use API gateways and adapters to seamlessly wrap AI services for older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LLMOps and MLOps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/>
          </a:p>
          <a:p>
            <a:pPr>
              <a:defRPr sz="2000"/>
            </a:pPr>
            <a:r>
              <a:t>Continuous Training (CT): Automated pipelines to retrain models on new data distributions.</a:t>
            </a:r>
          </a:p>
          <a:p>
            <a:pPr>
              <a:defRPr sz="2000"/>
            </a:pPr>
            <a:r>
              <a:t>Continuous Deployment (CD): Safe, staged rollouts (canary, blue-green) for new model versions.</a:t>
            </a:r>
          </a:p>
          <a:p>
            <a:pPr>
              <a:defRPr sz="2000"/>
            </a:pPr>
            <a:r>
              <a:t>Model Versioning &amp; Registry: Tracking lineage, hyperparameters, and performance metrics of every model artifact.</a:t>
            </a:r>
          </a:p>
          <a:p>
            <a:pPr>
              <a:defRPr sz="2000"/>
            </a:pPr>
            <a:r>
              <a:t>Feature Stores: Ensuring consistency between training and serving data to prevent training-serving skew.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and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2000"/>
            </a:pPr>
            <a:r>
              <a:t>Model Drift Monitoring: Tracking performance degradation and data distribution shifts over time.</a:t>
            </a:r>
          </a:p>
          <a:p>
            <a:pPr>
              <a:defRPr sz="2000"/>
            </a:pPr>
            <a:r>
              <a:t>Hallucination Detection: Cross-referencing outputs with trusted knowledge bases or using critic models.</a:t>
            </a:r>
          </a:p>
          <a:p>
            <a:pPr>
              <a:defRPr sz="2000"/>
            </a:pPr>
            <a:r>
              <a:t>Data Privacy (PII Scrubbing): Real-time redaction of sensitive data before it reaches the LLM.</a:t>
            </a:r>
          </a:p>
          <a:p>
            <a:pPr>
              <a:defRPr sz="2000"/>
            </a:pPr>
            <a:r>
              <a:t>Prompt Injection Defense: Input validation, sandboxing, and strict system prompts to prevent malicious manipulation.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and Latency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2000"/>
            </a:pPr>
            <a:r>
              <a:t>Prompt Caching: Storing and reusing embeddings or LLM responses for frequent, identical queries.</a:t>
            </a:r>
          </a:p>
          <a:p>
            <a:pPr>
              <a:defRPr sz="2000"/>
            </a:pPr>
            <a:r>
              <a:t>Model Quantization: Reducing model precision (e.g., FP16 to INT8) to decrease memory footprint and speed up inference.</a:t>
            </a:r>
          </a:p>
          <a:p>
            <a:pPr>
              <a:defRPr sz="2000"/>
            </a:pPr>
            <a:r>
              <a:t>Token Budget Management: Enforcing strict limits on input/output tokens to control API costs.</a:t>
            </a:r>
          </a:p>
          <a:p>
            <a:pPr>
              <a:defRPr sz="2000"/>
            </a:pPr>
            <a:r>
              <a:t>Edge Deployment: Running smaller, optimized models locally on devices to eliminate network latency and enhance privacy.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Case Study: AI-Powered Enterprise Knowledge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663547"/>
            <a:ext cx="8129013" cy="4584859"/>
          </a:xfrm>
        </p:spPr>
        <p:txBody>
          <a:bodyPr wrap="square">
            <a:normAutofit fontScale="92500" lnSpcReduction="2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Scenario: A global bank wants an internal AI assistant for 10,000 employees to query complex, updated financial regulations.</a:t>
            </a:r>
          </a:p>
          <a:p>
            <a:pPr>
              <a:defRPr sz="2000"/>
            </a:pPr>
            <a:r>
              <a:rPr dirty="0"/>
              <a:t>Challenges:</a:t>
            </a:r>
          </a:p>
          <a:p>
            <a:pPr>
              <a:defRPr sz="2000"/>
            </a:pPr>
            <a:r>
              <a:rPr dirty="0"/>
              <a:t>  - Strict data privacy (PII/Confidentiality).</a:t>
            </a:r>
          </a:p>
          <a:p>
            <a:pPr>
              <a:defRPr sz="2000"/>
            </a:pPr>
            <a:r>
              <a:rPr dirty="0"/>
              <a:t>  - Zero tolerance for hallucinations.</a:t>
            </a:r>
          </a:p>
          <a:p>
            <a:pPr>
              <a:defRPr sz="2000"/>
            </a:pPr>
            <a:r>
              <a:rPr dirty="0"/>
              <a:t>  - High concurrent usage during market hours.</a:t>
            </a:r>
          </a:p>
          <a:p>
            <a:pPr>
              <a:defRPr sz="2000"/>
            </a:pPr>
            <a:r>
              <a:rPr dirty="0"/>
              <a:t>Discussion Questions:</a:t>
            </a:r>
          </a:p>
          <a:p>
            <a:pPr>
              <a:defRPr sz="2000"/>
            </a:pPr>
            <a:r>
              <a:rPr dirty="0"/>
              <a:t>  1. Would you choose Agentic or Pipeline architecture here, and why?</a:t>
            </a:r>
          </a:p>
          <a:p>
            <a:pPr>
              <a:defRPr sz="2000"/>
            </a:pPr>
            <a:r>
              <a:rPr dirty="0"/>
              <a:t>  2. How would you design the RAG and Guardrails to ensure 100% compliance?</a:t>
            </a:r>
          </a:p>
          <a:p>
            <a:pPr>
              <a:defRPr sz="2000"/>
            </a:pPr>
            <a:r>
              <a:rPr dirty="0"/>
              <a:t>  3. What </a:t>
            </a:r>
            <a:r>
              <a:rPr dirty="0" err="1"/>
              <a:t>LLMOps</a:t>
            </a:r>
            <a:r>
              <a:rPr dirty="0"/>
              <a:t> metrics would you prioritize for observability?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415A2-23C8-B9C1-21BD-71293084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A837-8D8E-3FF7-3103-D6626158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452718"/>
            <a:ext cx="7965227" cy="1023542"/>
          </a:xfrm>
        </p:spPr>
        <p:txBody>
          <a:bodyPr/>
          <a:lstStyle/>
          <a:p>
            <a:r>
              <a:rPr sz="3200" dirty="0"/>
              <a:t>Case Study: AI-Powered </a:t>
            </a:r>
            <a:r>
              <a:rPr lang="en-US" sz="3200" dirty="0"/>
              <a:t>Smart Grid Predictive Operations</a:t>
            </a:r>
            <a:br>
              <a:rPr lang="en-US" sz="3200" dirty="0"/>
            </a:b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6D3EC-5942-50A3-13AC-2445748B5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699" y="1663547"/>
            <a:ext cx="7776473" cy="4584859"/>
          </a:xfrm>
        </p:spPr>
        <p:txBody>
          <a:bodyPr wrap="square">
            <a:normAutofit fontScale="85000" lnSpcReduction="20000"/>
          </a:bodyPr>
          <a:lstStyle/>
          <a:p>
            <a:pPr lvl="0"/>
            <a:r>
              <a:rPr lang="en-US" b="1" dirty="0"/>
              <a:t>Scenario:</a:t>
            </a:r>
            <a:r>
              <a:rPr lang="en-US" dirty="0"/>
              <a:t> A major health insurance provider wants to deploy an AI-powered assistant for customers to instantly query complex medical policy documents and retrieve personalized claim histories.</a:t>
            </a:r>
          </a:p>
          <a:p>
            <a:pPr lvl="0"/>
            <a:r>
              <a:rPr lang="en-US" b="1" dirty="0"/>
              <a:t>Challenges:</a:t>
            </a:r>
            <a:endParaRPr lang="en-US" dirty="0"/>
          </a:p>
          <a:p>
            <a:pPr lvl="1"/>
            <a:r>
              <a:rPr lang="en-US" dirty="0"/>
              <a:t>Strict data privacy compliance (HIPAA, masking medical PII).</a:t>
            </a:r>
          </a:p>
          <a:p>
            <a:pPr lvl="1"/>
            <a:r>
              <a:rPr lang="en-US" dirty="0"/>
              <a:t>High accuracy requirements to prevent hallucinating fake policy coverage.</a:t>
            </a:r>
          </a:p>
          <a:p>
            <a:pPr lvl="1"/>
            <a:r>
              <a:rPr lang="en-US" dirty="0"/>
              <a:t>Integration with legacy SQL databases holding active customer billing data.</a:t>
            </a:r>
          </a:p>
          <a:p>
            <a:pPr lvl="0"/>
            <a:r>
              <a:rPr lang="en-US" b="1" dirty="0"/>
              <a:t>Discussion Questions:</a:t>
            </a:r>
          </a:p>
          <a:p>
            <a:pPr lvl="0"/>
            <a:r>
              <a:rPr lang="en-US" dirty="0"/>
              <a:t>Would you choose Agentic or Pipeline architecture here to handle both unstructured policy search and structured database lookups?</a:t>
            </a:r>
          </a:p>
          <a:p>
            <a:pPr lvl="0"/>
            <a:r>
              <a:rPr lang="en-US" dirty="0"/>
              <a:t>How would you design the RAG framework and token caching strategy to manage high user volume and lower API costs?</a:t>
            </a:r>
          </a:p>
          <a:p>
            <a:pPr lvl="0"/>
            <a:r>
              <a:rPr lang="en-US" dirty="0"/>
              <a:t>What specific guardrails would you place on the input and output layers to guarantee compliance and protect the company from legal liability?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111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0F5-316A-2367-2E58-3A0985DE6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9CBA7-6A87-8EA4-E9CD-93EF4CEC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242371"/>
            <a:ext cx="7965227" cy="771181"/>
          </a:xfrm>
        </p:spPr>
        <p:txBody>
          <a:bodyPr/>
          <a:lstStyle/>
          <a:p>
            <a:r>
              <a:rPr lang="en-US" sz="3200" dirty="0"/>
              <a:t>CareFirst Health Insurance AI Assistant</a:t>
            </a:r>
            <a:br>
              <a:rPr lang="en-US" sz="3200" dirty="0"/>
            </a:b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286A5-56E8-CB94-0F98-278FA2BEA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699" y="1013553"/>
            <a:ext cx="7776473" cy="5234854"/>
          </a:xfrm>
        </p:spPr>
        <p:txBody>
          <a:bodyPr wrap="square">
            <a:normAutofit fontScale="85000" lnSpcReduction="10000"/>
          </a:bodyPr>
          <a:lstStyle/>
          <a:p>
            <a:pPr lvl="0"/>
            <a:r>
              <a:rPr lang="en-US" b="1" dirty="0"/>
              <a:t>Scenario:</a:t>
            </a:r>
            <a:r>
              <a:rPr lang="en-US" dirty="0"/>
              <a:t> A global energy enterprise wants an enterprise AI platform to analyze real-time streaming data from 5,000 wind turbines to predict hardware failures 48 hours in advance.</a:t>
            </a:r>
          </a:p>
          <a:p>
            <a:pPr lvl="0"/>
            <a:r>
              <a:rPr lang="en-US" b="1" dirty="0"/>
              <a:t>Challenges:</a:t>
            </a:r>
            <a:endParaRPr lang="en-US" dirty="0"/>
          </a:p>
          <a:p>
            <a:pPr lvl="1"/>
            <a:r>
              <a:rPr lang="en-US" dirty="0"/>
              <a:t>Massive data ingestion scale (millions of IoT sensor metrics per second).</a:t>
            </a:r>
          </a:p>
          <a:p>
            <a:pPr lvl="1"/>
            <a:r>
              <a:rPr lang="en-US" dirty="0"/>
              <a:t>High-availability constraints during extreme weather storms with low network bandwidth.</a:t>
            </a:r>
          </a:p>
          <a:p>
            <a:pPr lvl="1"/>
            <a:r>
              <a:rPr lang="en-US" dirty="0"/>
              <a:t>Significant model drift risks caused by changing global weather seasons.</a:t>
            </a:r>
          </a:p>
          <a:p>
            <a:pPr lvl="0"/>
            <a:r>
              <a:rPr lang="en-US" b="1" dirty="0"/>
              <a:t>Discussion Questions:</a:t>
            </a:r>
          </a:p>
          <a:p>
            <a:pPr lvl="0"/>
            <a:r>
              <a:rPr lang="en-US" dirty="0"/>
              <a:t>Would you choose Agentic or Pipeline architecture here to handle both unstructured policy search and structured database lookups?</a:t>
            </a:r>
          </a:p>
          <a:p>
            <a:pPr lvl="0"/>
            <a:r>
              <a:rPr lang="en-US" dirty="0"/>
              <a:t>How would you design the RAG framework and token caching strategy to manage high user volume and lower API costs?</a:t>
            </a:r>
          </a:p>
          <a:p>
            <a:pPr lvl="0"/>
            <a:r>
              <a:rPr lang="en-US" dirty="0"/>
              <a:t>What specific guardrails would you place on the input and output layers to guarantee compliance and protect the company from legal liability?</a:t>
            </a:r>
          </a:p>
          <a:p>
            <a:pPr lvl="1"/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9149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294</TotalTime>
  <Words>1162</Words>
  <Application>Microsoft Office PowerPoint</Application>
  <PresentationFormat>On-screen Show (4:3)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AI-Powered Architecture, Design &amp; Solutioning</vt:lpstr>
      <vt:lpstr>Agenda &amp; Learning Objectives</vt:lpstr>
      <vt:lpstr>AI-Driven Infrastructure Selection</vt:lpstr>
      <vt:lpstr>Architectural Trade-offs (The 'Ilities')</vt:lpstr>
      <vt:lpstr>Agentic vs. Pipeline Architectures</vt:lpstr>
      <vt:lpstr>Retrieval-Augmented Generation (RAG) Architecture</vt:lpstr>
      <vt:lpstr>Fine-Tuning vs. Prompt Engineering Frameworks</vt:lpstr>
      <vt:lpstr>API &amp; System Integration</vt:lpstr>
      <vt:lpstr>LLMOps and MLOps Infrastructure</vt:lpstr>
      <vt:lpstr>Observability and Guardrails</vt:lpstr>
      <vt:lpstr>Cost and Latency Optimization</vt:lpstr>
      <vt:lpstr>Case Study: AI-Powered Enterprise Knowledge Assistant</vt:lpstr>
      <vt:lpstr>Case Study: AI-Powered Smart Grid Predictive Operations </vt:lpstr>
      <vt:lpstr>CareFirst Health Insurance AI Assistant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11</cp:revision>
  <dcterms:created xsi:type="dcterms:W3CDTF">2013-01-27T09:14:16Z</dcterms:created>
  <dcterms:modified xsi:type="dcterms:W3CDTF">2026-09-07T09:13:37Z</dcterms:modified>
  <cp:category/>
</cp:coreProperties>
</file>