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739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1296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92958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6670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9090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2559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1634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51912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0530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4730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7292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51448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1802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9334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8339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67834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46379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15977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800" dirty="0"/>
              <a:t>Python for AI: Comprehensive 1-Day Workshop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32500" lnSpcReduction="20000"/>
          </a:bodyPr>
          <a:lstStyle/>
          <a:p>
            <a:r>
              <a:t>1-Day Intensive Program (5 Hours)</a:t>
            </a:r>
          </a:p>
          <a:p>
            <a:r>
              <a:t>From Basics to Building AI-Ready Utilities</a:t>
            </a:r>
          </a:p>
          <a:p>
            <a:r>
              <a:t>Presenter: [Your Name]</a:t>
            </a:r>
          </a:p>
          <a:p>
            <a:r>
              <a:t>Date: September 07,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Module 1: Python &amp; AI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endParaRPr dirty="0"/>
          </a:p>
          <a:p>
            <a:pPr>
              <a:spcAft>
                <a:spcPts val="1000"/>
              </a:spcAft>
              <a:defRPr sz="1800"/>
            </a:pPr>
            <a:r>
              <a:rPr dirty="0"/>
              <a:t>Why Python for AI: Simple syntax, vast ecosystem, strong community.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Ecosystem: NumPy, Pandas, Scikit-learn, TensorFlow, </a:t>
            </a:r>
            <a:r>
              <a:rPr dirty="0" err="1"/>
              <a:t>PyTorch</a:t>
            </a:r>
            <a:r>
              <a:rPr dirty="0"/>
              <a:t>.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Execution Model: Interpreted, dynamically typed, </a:t>
            </a:r>
            <a:r>
              <a:rPr dirty="0" err="1"/>
              <a:t>CPython</a:t>
            </a:r>
            <a:r>
              <a:rPr dirty="0"/>
              <a:t> (GIL).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IDE/Notebook Setup: VS Code, PyCharm, Jupyter, Google </a:t>
            </a:r>
            <a:r>
              <a:rPr dirty="0" err="1"/>
              <a:t>Colab</a:t>
            </a:r>
            <a:r>
              <a:rPr dirty="0"/>
              <a:t>.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Syntax/Setup: pip install </a:t>
            </a:r>
            <a:r>
              <a:rPr dirty="0" err="1"/>
              <a:t>jupyter</a:t>
            </a:r>
            <a:r>
              <a:rPr dirty="0"/>
              <a:t> -&gt; </a:t>
            </a:r>
            <a:r>
              <a:rPr dirty="0" err="1"/>
              <a:t>jupyter</a:t>
            </a:r>
            <a:r>
              <a:rPr dirty="0"/>
              <a:t> notebook</a:t>
            </a:r>
          </a:p>
          <a:p>
            <a:pPr>
              <a:spcAft>
                <a:spcPts val="1000"/>
              </a:spcAft>
              <a:defRPr sz="1800" b="1"/>
            </a:pPr>
            <a:r>
              <a:rPr dirty="0"/>
              <a:t>🧠  Q: How does Python's GIL impact multi-threading in AI, and how do libraries bypass it? (Ans: Releases GIL during C-level computations; uses multiprocessing).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951539"/>
          </a:xfrm>
        </p:spPr>
        <p:txBody>
          <a:bodyPr/>
          <a:lstStyle/>
          <a:p>
            <a:r>
              <a:rPr dirty="0"/>
              <a:t>Module 2: Python Basics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699" y="1295401"/>
            <a:ext cx="7434557" cy="4953006"/>
          </a:xfrm>
        </p:spPr>
        <p:txBody>
          <a:bodyPr>
            <a:normAutofit/>
          </a:bodyPr>
          <a:lstStyle/>
          <a:p>
            <a:endParaRPr dirty="0"/>
          </a:p>
          <a:p>
            <a:pPr>
              <a:spcAft>
                <a:spcPts val="1000"/>
              </a:spcAft>
              <a:defRPr sz="1800"/>
            </a:pPr>
            <a:r>
              <a:rPr dirty="0"/>
              <a:t>Variables &amp; Constants: Dynamic typing. Constants by convention (UPPER_CASE).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Data Types: int, float, str, bool, </a:t>
            </a:r>
            <a:r>
              <a:rPr dirty="0" err="1"/>
              <a:t>NoneType</a:t>
            </a:r>
            <a:r>
              <a:rPr dirty="0"/>
              <a:t>.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Type Conversion: int(), float(), str(), bool().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Operators: Arithmetic, Comparison, Logical (and, or, not), Identity (is).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Syntax: age = int(input('Enter age: '))</a:t>
            </a:r>
          </a:p>
          <a:p>
            <a:pPr>
              <a:spcAft>
                <a:spcPts val="1000"/>
              </a:spcAft>
              <a:defRPr sz="1800" b="1"/>
            </a:pPr>
            <a:r>
              <a:rPr dirty="0"/>
              <a:t> Q: What is the difference between 'a is b' and 'a == b' regarding integer caching? (Ans: '==' checks value; 'is' checks memory reference. Python caches small integers -5 to 256).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Module 3: Control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700" y="1262743"/>
            <a:ext cx="7391014" cy="4985663"/>
          </a:xfrm>
        </p:spPr>
        <p:txBody>
          <a:bodyPr/>
          <a:lstStyle/>
          <a:p>
            <a:endParaRPr dirty="0"/>
          </a:p>
          <a:p>
            <a:pPr>
              <a:spcAft>
                <a:spcPts val="1000"/>
              </a:spcAft>
              <a:defRPr sz="1800"/>
            </a:pPr>
            <a:r>
              <a:rPr dirty="0"/>
              <a:t>Conditionals: if, </a:t>
            </a:r>
            <a:r>
              <a:rPr dirty="0" err="1"/>
              <a:t>elif</a:t>
            </a:r>
            <a:r>
              <a:rPr dirty="0"/>
              <a:t>, else. Ternary: x if </a:t>
            </a:r>
            <a:r>
              <a:rPr dirty="0" err="1"/>
              <a:t>cond</a:t>
            </a:r>
            <a:r>
              <a:rPr dirty="0"/>
              <a:t> else y.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Loops: for (</a:t>
            </a:r>
            <a:r>
              <a:rPr dirty="0" err="1"/>
              <a:t>iterables</a:t>
            </a:r>
            <a:r>
              <a:rPr dirty="0"/>
              <a:t>), while (condition).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Control Statements: break, continue, pass.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Syntax: for </a:t>
            </a:r>
            <a:r>
              <a:rPr dirty="0" err="1"/>
              <a:t>i</a:t>
            </a:r>
            <a:r>
              <a:rPr dirty="0"/>
              <a:t> in range(5): if </a:t>
            </a:r>
            <a:r>
              <a:rPr dirty="0" err="1"/>
              <a:t>i</a:t>
            </a:r>
            <a:r>
              <a:rPr dirty="0"/>
              <a:t>==3: continue</a:t>
            </a:r>
          </a:p>
          <a:p>
            <a:pPr marL="0" indent="0">
              <a:spcAft>
                <a:spcPts val="1000"/>
              </a:spcAft>
              <a:buNone/>
              <a:defRPr sz="1800" b="1"/>
            </a:pPr>
            <a:r>
              <a:rPr dirty="0"/>
              <a:t> Hard Q: How does the 'else' clause work in for/while loops? (Ans: Executes ONLY if the loop terminates normally. If exited via 'break', the 'else' block is skipped).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984196"/>
          </a:xfrm>
        </p:spPr>
        <p:txBody>
          <a:bodyPr/>
          <a:lstStyle/>
          <a:p>
            <a:r>
              <a:rPr dirty="0"/>
              <a:t>Module 4: Data Structures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699" y="1436915"/>
            <a:ext cx="7674043" cy="4811492"/>
          </a:xfrm>
        </p:spPr>
        <p:txBody>
          <a:bodyPr>
            <a:normAutofit/>
          </a:bodyPr>
          <a:lstStyle/>
          <a:p>
            <a:endParaRPr dirty="0"/>
          </a:p>
          <a:p>
            <a:pPr>
              <a:spcAft>
                <a:spcPts val="1000"/>
              </a:spcAft>
              <a:defRPr sz="1800"/>
            </a:pPr>
            <a:r>
              <a:rPr dirty="0"/>
              <a:t>Lists: Mutable, ordered. []. Methods: append(), pop(), sort().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Tuples: Immutable, ordered. (). Faster and memory-efficient.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Sets: Mutable, unordered, unique elements. {}. Math ops.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Dictionaries: Key-value pairs, mutable, ordered (Py 3.7+). {}.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Indexing/Slicing: list[</a:t>
            </a:r>
            <a:r>
              <a:rPr dirty="0" err="1"/>
              <a:t>start:stop:step</a:t>
            </a:r>
            <a:r>
              <a:rPr dirty="0"/>
              <a:t>]</a:t>
            </a:r>
          </a:p>
          <a:p>
            <a:pPr marL="0" indent="0">
              <a:spcAft>
                <a:spcPts val="1000"/>
              </a:spcAft>
              <a:buNone/>
              <a:defRPr sz="1800" b="1"/>
            </a:pPr>
            <a:r>
              <a:rPr dirty="0"/>
              <a:t> Hard Q: Why are dictionary keys required to be </a:t>
            </a:r>
            <a:r>
              <a:rPr dirty="0" err="1"/>
              <a:t>hashable</a:t>
            </a:r>
            <a:r>
              <a:rPr dirty="0"/>
              <a:t>, and how does Python handle hash collisions? (Ans: Keys need __hash__ for memory addresses. Collisions handled via open addressing with probing).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810025"/>
          </a:xfrm>
        </p:spPr>
        <p:txBody>
          <a:bodyPr/>
          <a:lstStyle/>
          <a:p>
            <a:r>
              <a:rPr dirty="0"/>
              <a:t>Module 5: Strings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699" y="1262743"/>
            <a:ext cx="7728471" cy="4985663"/>
          </a:xfrm>
        </p:spPr>
        <p:txBody>
          <a:bodyPr>
            <a:normAutofit/>
          </a:bodyPr>
          <a:lstStyle/>
          <a:p>
            <a:endParaRPr dirty="0"/>
          </a:p>
          <a:p>
            <a:pPr>
              <a:spcAft>
                <a:spcPts val="1000"/>
              </a:spcAft>
              <a:defRPr sz="1800"/>
            </a:pPr>
            <a:r>
              <a:rPr dirty="0"/>
              <a:t>Operations: Concatenation (+), repetition (*), membership (in).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Formatting: % formatting, .format(), f-strings (Python 3.6+).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Methods: split(), join(), strip(), find(), replace().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Syntax: msg = </a:t>
            </a:r>
            <a:r>
              <a:rPr dirty="0" err="1"/>
              <a:t>f'Welcome</a:t>
            </a:r>
            <a:r>
              <a:rPr dirty="0"/>
              <a:t> to {name}!'</a:t>
            </a:r>
          </a:p>
          <a:p>
            <a:pPr marL="0" indent="0">
              <a:spcAft>
                <a:spcPts val="1000"/>
              </a:spcAft>
              <a:buNone/>
              <a:defRPr sz="1800" b="1"/>
            </a:pPr>
            <a:r>
              <a:rPr dirty="0"/>
              <a:t> Hard Q: Are strings truly immutable? How does concatenation work under the hood? (Ans: Yes, immutable. Concatenation creates a new string. Naive repeated concatenation is O(N²); use ''.join() for O(N)).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907996"/>
          </a:xfrm>
        </p:spPr>
        <p:txBody>
          <a:bodyPr/>
          <a:lstStyle/>
          <a:p>
            <a:r>
              <a:rPr dirty="0"/>
              <a:t>Module 6: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699" y="1360715"/>
            <a:ext cx="7837329" cy="4887692"/>
          </a:xfrm>
        </p:spPr>
        <p:txBody>
          <a:bodyPr>
            <a:normAutofit/>
          </a:bodyPr>
          <a:lstStyle/>
          <a:p>
            <a:endParaRPr dirty="0"/>
          </a:p>
          <a:p>
            <a:pPr>
              <a:spcAft>
                <a:spcPts val="1000"/>
              </a:spcAft>
              <a:defRPr sz="1800"/>
            </a:pPr>
            <a:r>
              <a:rPr dirty="0"/>
              <a:t>Defining: def </a:t>
            </a:r>
            <a:r>
              <a:rPr dirty="0" err="1"/>
              <a:t>func_name</a:t>
            </a:r>
            <a:r>
              <a:rPr dirty="0"/>
              <a:t>():. Returns None if omitted.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Parameters: Positional, keyword, default values.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*</a:t>
            </a:r>
            <a:r>
              <a:rPr dirty="0" err="1"/>
              <a:t>args</a:t>
            </a:r>
            <a:r>
              <a:rPr dirty="0"/>
              <a:t> &amp; **</a:t>
            </a:r>
            <a:r>
              <a:rPr dirty="0" err="1"/>
              <a:t>kwargs</a:t>
            </a:r>
            <a:r>
              <a:rPr dirty="0"/>
              <a:t>: *</a:t>
            </a:r>
            <a:r>
              <a:rPr dirty="0" err="1"/>
              <a:t>args</a:t>
            </a:r>
            <a:r>
              <a:rPr dirty="0"/>
              <a:t> packs positional to tuple; **</a:t>
            </a:r>
            <a:r>
              <a:rPr dirty="0" err="1"/>
              <a:t>kwargs</a:t>
            </a:r>
            <a:r>
              <a:rPr dirty="0"/>
              <a:t> packs keyword to dict.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Lambda: Anonymous functions lambda x: x**2.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Syntax: def greet(name, msg='Hello', *</a:t>
            </a:r>
            <a:r>
              <a:rPr dirty="0" err="1"/>
              <a:t>args</a:t>
            </a:r>
            <a:r>
              <a:rPr dirty="0"/>
              <a:t>, **</a:t>
            </a:r>
            <a:r>
              <a:rPr dirty="0" err="1"/>
              <a:t>kwargs</a:t>
            </a:r>
            <a:r>
              <a:rPr dirty="0"/>
              <a:t>):</a:t>
            </a:r>
          </a:p>
          <a:p>
            <a:pPr>
              <a:spcAft>
                <a:spcPts val="1000"/>
              </a:spcAft>
              <a:defRPr sz="1800" b="1"/>
            </a:pPr>
            <a:r>
              <a:rPr dirty="0"/>
              <a:t> Hard Q: What is the 'mutable default argument' gotcha? (Ans: Defaults evaluated once at definition. Use None as default and initialize mutable objects inside the function body).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Module 7: Error Handling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699" y="1366093"/>
            <a:ext cx="8073929" cy="4882314"/>
          </a:xfrm>
        </p:spPr>
        <p:txBody>
          <a:bodyPr>
            <a:normAutofit/>
          </a:bodyPr>
          <a:lstStyle/>
          <a:p>
            <a:endParaRPr dirty="0"/>
          </a:p>
          <a:p>
            <a:pPr>
              <a:spcAft>
                <a:spcPts val="1000"/>
              </a:spcAft>
              <a:defRPr sz="1800"/>
            </a:pPr>
            <a:r>
              <a:rPr dirty="0"/>
              <a:t>Exceptions: Events that disrupt normal execution flow.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Try/Except/Else/Finally: try (test), except (catch), else (no error), finally (always).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Raising: raise </a:t>
            </a:r>
            <a:r>
              <a:rPr dirty="0" err="1"/>
              <a:t>ValueError</a:t>
            </a:r>
            <a:r>
              <a:rPr dirty="0"/>
              <a:t>('Error msg').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Syntax: try: </a:t>
            </a:r>
            <a:r>
              <a:rPr dirty="0" err="1"/>
              <a:t>val</a:t>
            </a:r>
            <a:r>
              <a:rPr dirty="0"/>
              <a:t> = int('</a:t>
            </a:r>
            <a:r>
              <a:rPr dirty="0" err="1"/>
              <a:t>abc</a:t>
            </a:r>
            <a:r>
              <a:rPr dirty="0"/>
              <a:t>') except </a:t>
            </a:r>
            <a:r>
              <a:rPr dirty="0" err="1"/>
              <a:t>ValueError</a:t>
            </a:r>
            <a:r>
              <a:rPr dirty="0"/>
              <a:t> as e: print(e)</a:t>
            </a:r>
          </a:p>
          <a:p>
            <a:pPr>
              <a:spcAft>
                <a:spcPts val="1000"/>
              </a:spcAft>
              <a:defRPr sz="1800" b="1"/>
            </a:pPr>
            <a:r>
              <a:rPr dirty="0"/>
              <a:t> Hard Q: What happens if you catch Exception vs </a:t>
            </a:r>
            <a:r>
              <a:rPr dirty="0" err="1"/>
              <a:t>BaseException</a:t>
            </a:r>
            <a:r>
              <a:rPr dirty="0"/>
              <a:t>? (Ans: </a:t>
            </a:r>
            <a:r>
              <a:rPr dirty="0" err="1"/>
              <a:t>BaseException</a:t>
            </a:r>
            <a:r>
              <a:rPr dirty="0"/>
              <a:t> catches system-exiting exceptions like </a:t>
            </a:r>
            <a:r>
              <a:rPr dirty="0" err="1"/>
              <a:t>KeyboardInterrupt</a:t>
            </a:r>
            <a:r>
              <a:rPr dirty="0"/>
              <a:t>. Always catch Exception to allow system exits to work).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709" y="452718"/>
            <a:ext cx="8262683" cy="1400530"/>
          </a:xfrm>
        </p:spPr>
        <p:txBody>
          <a:bodyPr/>
          <a:lstStyle/>
          <a:p>
            <a:r>
              <a:rPr dirty="0"/>
              <a:t>Module 8: Modules &amp; Packages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700" y="2052925"/>
            <a:ext cx="7754440" cy="4195481"/>
          </a:xfrm>
        </p:spPr>
        <p:txBody>
          <a:bodyPr>
            <a:normAutofit fontScale="92500"/>
          </a:bodyPr>
          <a:lstStyle/>
          <a:p>
            <a:endParaRPr dirty="0"/>
          </a:p>
          <a:p>
            <a:pPr>
              <a:spcAft>
                <a:spcPts val="1000"/>
              </a:spcAft>
              <a:defRPr sz="1800"/>
            </a:pPr>
            <a:r>
              <a:rPr dirty="0"/>
              <a:t>Importing: import math, from math import sqrt, import </a:t>
            </a:r>
            <a:r>
              <a:rPr dirty="0" err="1"/>
              <a:t>numpy</a:t>
            </a:r>
            <a:r>
              <a:rPr dirty="0"/>
              <a:t> as np.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Standard Library: </a:t>
            </a:r>
            <a:r>
              <a:rPr dirty="0" err="1"/>
              <a:t>os</a:t>
            </a:r>
            <a:r>
              <a:rPr dirty="0"/>
              <a:t>, sys, datetime, </a:t>
            </a:r>
            <a:r>
              <a:rPr dirty="0" err="1"/>
              <a:t>json</a:t>
            </a:r>
            <a:r>
              <a:rPr dirty="0"/>
              <a:t>, math.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Creating Modules: Any .</a:t>
            </a:r>
            <a:r>
              <a:rPr dirty="0" err="1"/>
              <a:t>py</a:t>
            </a:r>
            <a:r>
              <a:rPr dirty="0"/>
              <a:t> file. Use if __name__ == '__main__':.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Packages: Directory with __init__.py (optional in Py 3.3+).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Pip: Package installer. pip install </a:t>
            </a:r>
            <a:r>
              <a:rPr dirty="0" err="1"/>
              <a:t>package_name</a:t>
            </a:r>
            <a:r>
              <a:rPr dirty="0"/>
              <a:t>.</a:t>
            </a:r>
          </a:p>
          <a:p>
            <a:pPr>
              <a:spcAft>
                <a:spcPts val="1000"/>
              </a:spcAft>
              <a:defRPr sz="1800" b="1"/>
            </a:pPr>
            <a:r>
              <a:rPr dirty="0"/>
              <a:t>Hard Q: What is the purpose of __init__.py and how did it change in Py 3.3+? (Ans: Traditionally initialized packages. In 3.3+, it became optional, allowing 'namespace packages' spanning multiple directories).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709" y="452718"/>
            <a:ext cx="8295733" cy="1400530"/>
          </a:xfrm>
        </p:spPr>
        <p:txBody>
          <a:bodyPr/>
          <a:lstStyle/>
          <a:p>
            <a:r>
              <a:rPr dirty="0"/>
              <a:t>Module 9: Hands-on Practice (Part 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700" y="1663547"/>
            <a:ext cx="6711654" cy="4584859"/>
          </a:xfrm>
        </p:spPr>
        <p:txBody>
          <a:bodyPr>
            <a:normAutofit fontScale="92500"/>
          </a:bodyPr>
          <a:lstStyle/>
          <a:p>
            <a:endParaRPr dirty="0"/>
          </a:p>
          <a:p>
            <a:pPr>
              <a:spcAft>
                <a:spcPts val="1000"/>
              </a:spcAft>
              <a:defRPr sz="1800"/>
            </a:pPr>
            <a:r>
              <a:rPr dirty="0"/>
              <a:t>Project: Build a 'Data Processing Utility'</a:t>
            </a:r>
          </a:p>
          <a:p>
            <a:pPr marL="0" indent="0">
              <a:spcAft>
                <a:spcPts val="1000"/>
              </a:spcAft>
              <a:buNone/>
              <a:defRPr sz="1800"/>
            </a:pPr>
            <a:r>
              <a:rPr dirty="0"/>
              <a:t>Requirements:</a:t>
            </a:r>
          </a:p>
          <a:p>
            <a:pPr marL="0" indent="0">
              <a:spcAft>
                <a:spcPts val="1000"/>
              </a:spcAft>
              <a:buNone/>
              <a:defRPr sz="1800"/>
            </a:pPr>
            <a:r>
              <a:rPr dirty="0"/>
              <a:t>1. Read a list of raw, messy data (simulated via hardcoded list).</a:t>
            </a:r>
          </a:p>
          <a:p>
            <a:pPr marL="0" indent="0">
              <a:spcAft>
                <a:spcPts val="1000"/>
              </a:spcAft>
              <a:buNone/>
              <a:defRPr sz="1800"/>
            </a:pPr>
            <a:r>
              <a:rPr dirty="0"/>
              <a:t>2. Clean the data (handle missing values, type conversions).</a:t>
            </a:r>
          </a:p>
          <a:p>
            <a:pPr marL="0" indent="0">
              <a:spcAft>
                <a:spcPts val="1000"/>
              </a:spcAft>
              <a:buNone/>
              <a:defRPr sz="1800"/>
            </a:pPr>
            <a:r>
              <a:rPr dirty="0"/>
              <a:t>3. Process data using functions (calculate stats, filter outliers).</a:t>
            </a:r>
          </a:p>
          <a:p>
            <a:pPr marL="0" indent="0">
              <a:spcAft>
                <a:spcPts val="1000"/>
              </a:spcAft>
              <a:buNone/>
              <a:defRPr sz="1800"/>
            </a:pPr>
            <a:r>
              <a:rPr dirty="0"/>
              <a:t>4. Handle exceptions gracefully (e.g., invalid data formats).</a:t>
            </a:r>
          </a:p>
          <a:p>
            <a:pPr marL="0" indent="0">
              <a:spcAft>
                <a:spcPts val="1000"/>
              </a:spcAft>
              <a:buNone/>
              <a:defRPr sz="1800"/>
            </a:pPr>
            <a:r>
              <a:rPr dirty="0"/>
              <a:t>Tools to use: Lists, </a:t>
            </a:r>
            <a:r>
              <a:rPr dirty="0" err="1"/>
              <a:t>Dicts</a:t>
            </a:r>
            <a:r>
              <a:rPr dirty="0"/>
              <a:t>, Functions, Try/Except blocks.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8251666" cy="1400530"/>
          </a:xfrm>
        </p:spPr>
        <p:txBody>
          <a:bodyPr/>
          <a:lstStyle/>
          <a:p>
            <a:r>
              <a:rPr dirty="0"/>
              <a:t>Module 9: Hands-on Practice (Part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marL="0" indent="0">
              <a:spcAft>
                <a:spcPts val="1000"/>
              </a:spcAft>
              <a:buNone/>
              <a:defRPr sz="1800"/>
            </a:pPr>
            <a:r>
              <a:rPr dirty="0"/>
              <a:t>Starter Code Structure:</a:t>
            </a:r>
          </a:p>
          <a:p>
            <a:pPr marL="0" indent="0">
              <a:spcAft>
                <a:spcPts val="1000"/>
              </a:spcAft>
              <a:buNone/>
              <a:defRPr sz="1800"/>
            </a:pPr>
            <a:r>
              <a:rPr dirty="0"/>
              <a:t>def </a:t>
            </a:r>
            <a:r>
              <a:rPr dirty="0" err="1"/>
              <a:t>clean_data</a:t>
            </a:r>
            <a:r>
              <a:rPr dirty="0"/>
              <a:t>(</a:t>
            </a:r>
            <a:r>
              <a:rPr dirty="0" err="1"/>
              <a:t>raw_data</a:t>
            </a:r>
            <a:r>
              <a:rPr dirty="0"/>
              <a:t>): pass</a:t>
            </a:r>
          </a:p>
          <a:p>
            <a:pPr marL="0" indent="0">
              <a:spcAft>
                <a:spcPts val="1000"/>
              </a:spcAft>
              <a:buNone/>
              <a:defRPr sz="1800"/>
            </a:pPr>
            <a:r>
              <a:rPr dirty="0"/>
              <a:t>def </a:t>
            </a:r>
            <a:r>
              <a:rPr dirty="0" err="1"/>
              <a:t>process_data</a:t>
            </a:r>
            <a:r>
              <a:rPr dirty="0"/>
              <a:t>(</a:t>
            </a:r>
            <a:r>
              <a:rPr dirty="0" err="1"/>
              <a:t>cleaned_data</a:t>
            </a:r>
            <a:r>
              <a:rPr dirty="0"/>
              <a:t>): pass</a:t>
            </a:r>
          </a:p>
          <a:p>
            <a:pPr marL="0" indent="0">
              <a:spcAft>
                <a:spcPts val="1000"/>
              </a:spcAft>
              <a:buNone/>
              <a:defRPr sz="1800"/>
            </a:pPr>
            <a:r>
              <a:rPr dirty="0"/>
              <a:t>if __name__ == '__main__':</a:t>
            </a:r>
          </a:p>
          <a:p>
            <a:pPr marL="0" indent="0">
              <a:spcAft>
                <a:spcPts val="1000"/>
              </a:spcAft>
              <a:buNone/>
              <a:defRPr sz="1800"/>
            </a:pPr>
            <a:r>
              <a:rPr dirty="0"/>
              <a:t>    raw = ['10', '20', 'invalid', '40', None]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Task: Complete the functions. Add custom exceptions for specific data errors.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709" y="452718"/>
            <a:ext cx="7502519" cy="891340"/>
          </a:xfrm>
        </p:spPr>
        <p:txBody>
          <a:bodyPr/>
          <a:lstStyle/>
          <a:p>
            <a:r>
              <a:rPr dirty="0"/>
              <a:t>Advanced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700" y="1344059"/>
            <a:ext cx="7908676" cy="4904348"/>
          </a:xfrm>
        </p:spPr>
        <p:txBody>
          <a:bodyPr>
            <a:normAutofit/>
          </a:bodyPr>
          <a:lstStyle/>
          <a:p>
            <a:endParaRPr dirty="0"/>
          </a:p>
          <a:p>
            <a:pPr>
              <a:spcAft>
                <a:spcPts val="1000"/>
              </a:spcAft>
              <a:defRPr sz="1800"/>
            </a:pPr>
            <a:r>
              <a:rPr dirty="0"/>
              <a:t>List Comprehensions: [x**2 for x in range(10) if x % 2 == 0]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Generators: yield keyword for memory-efficient, lazy iteration.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Decorators: Modifying function behavior @decorator.</a:t>
            </a:r>
          </a:p>
          <a:p>
            <a:pPr>
              <a:spcAft>
                <a:spcPts val="1000"/>
              </a:spcAft>
              <a:defRPr sz="1800"/>
            </a:pPr>
            <a:r>
              <a:rPr dirty="0"/>
              <a:t>Context Managers: with open('file.txt') as f: for resource management.</a:t>
            </a:r>
          </a:p>
          <a:p>
            <a:pPr>
              <a:spcAft>
                <a:spcPts val="1000"/>
              </a:spcAft>
              <a:defRPr sz="1800" b="1"/>
            </a:pPr>
            <a:r>
              <a:t> </a:t>
            </a:r>
            <a:r>
              <a:rPr dirty="0"/>
              <a:t>Hard Q: How does a generator differ from a list comprehension? (Ans: List comprehensions are eager O(N) memory. Generators are lazy O(1) memory, ideal for massive datasets).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9</TotalTime>
  <Words>1134</Words>
  <Application>Microsoft Office PowerPoint</Application>
  <PresentationFormat>On-screen Show (4:3)</PresentationFormat>
  <Paragraphs>90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Century Gothic</vt:lpstr>
      <vt:lpstr>Wingdings 3</vt:lpstr>
      <vt:lpstr>Ion</vt:lpstr>
      <vt:lpstr>Python for AI: Comprehensive 1-Day Workshop</vt:lpstr>
      <vt:lpstr>Module 1: Python &amp; AI Overview</vt:lpstr>
      <vt:lpstr>Module 2: Python Basics</vt:lpstr>
      <vt:lpstr>Module 3: Control Flow</vt:lpstr>
      <vt:lpstr>Module 4: Data Structures</vt:lpstr>
      <vt:lpstr>Module 5: Strings</vt:lpstr>
      <vt:lpstr>Module 6: Functions</vt:lpstr>
      <vt:lpstr>Module 7: Error Handling</vt:lpstr>
      <vt:lpstr>Module 8: Modules &amp; Packages</vt:lpstr>
      <vt:lpstr>Module 9: Hands-on Practice (Part 1)</vt:lpstr>
      <vt:lpstr>Module 9: Hands-on Practice (Part 2)</vt:lpstr>
      <vt:lpstr>Advanced Concepts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hp</cp:lastModifiedBy>
  <cp:revision>14</cp:revision>
  <dcterms:created xsi:type="dcterms:W3CDTF">2013-01-27T09:14:16Z</dcterms:created>
  <dcterms:modified xsi:type="dcterms:W3CDTF">2026-09-07T17:54:20Z</dcterms:modified>
  <cp:category/>
</cp:coreProperties>
</file>