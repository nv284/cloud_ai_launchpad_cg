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6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7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2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1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3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3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1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4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4822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26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08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25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70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7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165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for AI Integration &amp;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Topics for Enterprise Professionals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Advanced LLM Integration (Core)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LLM API Architecture: REST/</a:t>
            </a:r>
            <a:r>
              <a:rPr dirty="0" err="1"/>
              <a:t>gRPC</a:t>
            </a:r>
            <a:r>
              <a:rPr dirty="0"/>
              <a:t> endpoints, stateless request/response models.</a:t>
            </a:r>
          </a:p>
          <a:p>
            <a:pPr>
              <a:defRPr sz="1800" b="1"/>
            </a:pPr>
            <a:r>
              <a:rPr dirty="0"/>
              <a:t>Python SDK Integration: Using official SDKs (OpenAI, Anthropic) and unified routers (</a:t>
            </a:r>
            <a:r>
              <a:rPr dirty="0" err="1"/>
              <a:t>LiteLLM</a:t>
            </a:r>
            <a:r>
              <a:rPr dirty="0"/>
              <a:t>).</a:t>
            </a:r>
          </a:p>
          <a:p>
            <a:pPr>
              <a:defRPr sz="1800" b="1"/>
            </a:pPr>
            <a:r>
              <a:rPr dirty="0"/>
              <a:t>Structured Output: Enforcing </a:t>
            </a:r>
            <a:r>
              <a:rPr dirty="0" err="1"/>
              <a:t>Pydantic</a:t>
            </a:r>
            <a:r>
              <a:rPr dirty="0"/>
              <a:t> models and JSON modes for reliable data extraction.</a:t>
            </a:r>
          </a:p>
          <a:p>
            <a:pPr>
              <a:defRPr sz="1800" b="1"/>
            </a:pPr>
            <a:r>
              <a:rPr dirty="0"/>
              <a:t>Function/Tool Calling: Defining schemas for LLMs to trigger external Python functions.</a:t>
            </a:r>
          </a:p>
          <a:p>
            <a:pPr>
              <a:defRPr sz="1800" b="1"/>
            </a:pPr>
            <a:r>
              <a:rPr dirty="0"/>
              <a:t>Streaming Responses: Implementing Server-Sent Events (SSE) and async generators for real-time UI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Advanced LLM Integration (Resilience)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Token &amp; Context Management: Sliding windows, context compression, and summarization techniques.</a:t>
            </a:r>
          </a:p>
          <a:p>
            <a:pPr>
              <a:defRPr sz="1800" b="1"/>
            </a:pPr>
            <a:r>
              <a:rPr dirty="0"/>
              <a:t>Retry &amp; Timeout Handling: Implementing exponential backoff (Tenacity) for transient API failures.</a:t>
            </a:r>
          </a:p>
          <a:p>
            <a:pPr>
              <a:defRPr sz="1800" b="1"/>
            </a:pPr>
            <a:r>
              <a:rPr dirty="0"/>
              <a:t>Model Selection &amp; Fallbacks: Semantic routing to route simple tasks to small models and complex tasks to frontier models.</a:t>
            </a:r>
          </a:p>
          <a:p>
            <a:pPr>
              <a:defRPr sz="1800" b="1"/>
            </a:pPr>
            <a:r>
              <a:rPr dirty="0"/>
              <a:t>Cost Optimization: Caching identical prompts and batching asynchronous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AI-Powered Automation Architecture (Foundations)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AI vs Traditional Automation: Probabilistic (LLM) vs Deterministic (Rules) execution paradigms.</a:t>
            </a:r>
          </a:p>
          <a:p>
            <a:pPr>
              <a:defRPr sz="1800" b="1"/>
            </a:pPr>
            <a:r>
              <a:rPr dirty="0"/>
              <a:t>API → AI → Action Workflow: Ingesting data via API, reasoning via LLM, and executing state changes.</a:t>
            </a:r>
          </a:p>
          <a:p>
            <a:pPr>
              <a:defRPr sz="1800" b="1"/>
            </a:pPr>
            <a:r>
              <a:rPr dirty="0"/>
              <a:t>Event-Driven Automation: Triggering AI workflows via webhooks, Kafka, or message queues.</a:t>
            </a:r>
          </a:p>
          <a:p>
            <a:pPr>
              <a:defRPr sz="1800" b="1"/>
            </a:pPr>
            <a:r>
              <a:rPr dirty="0"/>
              <a:t>Human-in-the-Loop (HITL): Pausing execution for human approval when AI confidence scores fall below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AI-Powered Automation Architecture (Execution)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Decision-Making with LLMs: Utilizing Chain-of-Thought (</a:t>
            </a:r>
            <a:r>
              <a:rPr dirty="0" err="1"/>
              <a:t>CoT</a:t>
            </a:r>
            <a:r>
              <a:rPr dirty="0"/>
              <a:t>) for complex logical routing.</a:t>
            </a:r>
          </a:p>
          <a:p>
            <a:pPr>
              <a:defRPr sz="1800" b="1"/>
            </a:pPr>
            <a:r>
              <a:rPr dirty="0"/>
              <a:t>Trigger → Process → Validate → Execute Pattern: Ensuring AI outputs are validated against business rules before execution.</a:t>
            </a:r>
          </a:p>
          <a:p>
            <a:pPr>
              <a:defRPr sz="1800" b="1"/>
            </a:pPr>
            <a:r>
              <a:rPr dirty="0"/>
              <a:t>Multi-Step Workflows: Chaining multiple AI and deterministic steps for complex enterprise processes.</a:t>
            </a:r>
          </a:p>
          <a:p>
            <a:pPr>
              <a:defRPr sz="1800" b="1"/>
            </a:pPr>
            <a:r>
              <a:rPr dirty="0"/>
              <a:t>Enterprise Use Cases: Automated invoice processing, IT ticket routing, and dynamic compliance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RAG-Based AI </a:t>
            </a:r>
            <a:r>
              <a:rPr sz="3200" dirty="0"/>
              <a:t>Applications</a:t>
            </a:r>
            <a:r>
              <a:rPr dirty="0"/>
              <a:t> (Foundations)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RAG Architecture: Grounding LLM responses in proprietary, real-time enterprise data.</a:t>
            </a:r>
          </a:p>
          <a:p>
            <a:pPr>
              <a:defRPr sz="1800" b="1"/>
            </a:pPr>
            <a:r>
              <a:rPr dirty="0"/>
              <a:t>Document Ingestion Pipeline: Parsing PDFs, HTML, and DBs while preserving layout and tables.</a:t>
            </a:r>
          </a:p>
          <a:p>
            <a:pPr>
              <a:defRPr sz="1800" b="1"/>
            </a:pPr>
            <a:r>
              <a:rPr dirty="0"/>
              <a:t>Chunking Strategies: Recursive character splitting for context preservation; semantic chunking for meaning boundaries.</a:t>
            </a:r>
          </a:p>
          <a:p>
            <a:pPr>
              <a:defRPr sz="1800" b="1"/>
            </a:pPr>
            <a:r>
              <a:rPr dirty="0"/>
              <a:t>Embeddings: Transforming text into high-dimensional vectors (Dense vs. Sparse representations).</a:t>
            </a:r>
          </a:p>
          <a:p>
            <a:pPr>
              <a:defRPr sz="1800" b="1"/>
            </a:pPr>
            <a:r>
              <a:rPr dirty="0"/>
              <a:t>Vector Databases: Storing and querying vectors efficiently (Pinecone, Milvus, </a:t>
            </a:r>
            <a:r>
              <a:rPr dirty="0" err="1"/>
              <a:t>pgvector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RAG-Based AI Applications (Advanced)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Semantic Search &amp; Metadata Filtering: Combining vector similarity with strict keyword/metadata filters (Hybrid Search).</a:t>
            </a:r>
          </a:p>
          <a:p>
            <a:pPr>
              <a:defRPr sz="1800" b="1"/>
            </a:pPr>
            <a:r>
              <a:t>Retrieval → Context → LLM Pipeline: Prompt engineering to synthesize retrieved chunks accurately.</a:t>
            </a:r>
          </a:p>
          <a:p>
            <a:pPr>
              <a:defRPr sz="1800" b="1"/>
            </a:pPr>
            <a:r>
              <a:t>RAG Evaluation: Using frameworks like RAGAS to measure context precision, faithfulness, and answer relevance.</a:t>
            </a:r>
          </a:p>
          <a:p>
            <a:pPr>
              <a:defRPr sz="1800" b="1"/>
            </a:pPr>
            <a:r>
              <a:t>Common Failure Points: 'Lost in the middle' phenomenon, chunk boundary splits, and hallucination.</a:t>
            </a:r>
          </a:p>
          <a:p>
            <a:pPr>
              <a:defRPr sz="1800" b="1"/>
            </a:pPr>
            <a:r>
              <a:t>Python Implementation: Leveraging LlamaIndex and LangChain for modular RAG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AI Agents &amp; Tool Calling (Core)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Agent vs Chatbot vs Workflow: Agents possess autonomy, memory, and tool-use; chatbots are conversational; workflows are static.</a:t>
            </a:r>
          </a:p>
          <a:p>
            <a:pPr>
              <a:defRPr sz="1800" b="1"/>
            </a:pPr>
            <a:r>
              <a:rPr dirty="0"/>
              <a:t>Agent Architecture: Perception (inputs), Brain (LLM reasoning), Action (tool execution).</a:t>
            </a:r>
          </a:p>
          <a:p>
            <a:pPr>
              <a:defRPr sz="1800" b="1"/>
            </a:pPr>
            <a:r>
              <a:rPr dirty="0"/>
              <a:t>The Agent Loop: Observe environment → Think (plan) → Act (execute tool) → Observe results.</a:t>
            </a:r>
          </a:p>
          <a:p>
            <a:pPr>
              <a:defRPr sz="1800" b="1"/>
            </a:pPr>
            <a:r>
              <a:rPr dirty="0"/>
              <a:t>Planning &amp; Execution: Implementing </a:t>
            </a:r>
            <a:r>
              <a:rPr dirty="0" err="1"/>
              <a:t>ReAct</a:t>
            </a:r>
            <a:r>
              <a:rPr dirty="0"/>
              <a:t> (Reason + Act) and Plan-and-Solve frameworks.</a:t>
            </a:r>
          </a:p>
          <a:p>
            <a:pPr>
              <a:defRPr sz="1800" b="1"/>
            </a:pPr>
            <a:r>
              <a:rPr dirty="0"/>
              <a:t>Tool/Function Calling: Securely mapping LLM intents to authenticated Python API/DB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AI Agents &amp; Tool Calling (Advanced)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Agent Memory: Short-term (context window) vs Long-term (vector DB) memory for persistent state.</a:t>
            </a:r>
          </a:p>
          <a:p>
            <a:pPr>
              <a:defRPr sz="1800" b="1"/>
            </a:pPr>
            <a:r>
              <a:rPr dirty="0"/>
              <a:t>Multi-Agent Architecture: Orchestrating specialized agents (e.g., Researcher, Coder, Reviewer) via </a:t>
            </a:r>
            <a:r>
              <a:rPr dirty="0" err="1"/>
              <a:t>CrewAI</a:t>
            </a:r>
            <a:r>
              <a:rPr dirty="0"/>
              <a:t> or </a:t>
            </a:r>
            <a:r>
              <a:rPr dirty="0" err="1"/>
              <a:t>AutoGen</a:t>
            </a:r>
            <a:r>
              <a:rPr dirty="0"/>
              <a:t>.</a:t>
            </a:r>
          </a:p>
          <a:p>
            <a:pPr>
              <a:defRPr sz="1800" b="1"/>
            </a:pPr>
            <a:r>
              <a:rPr dirty="0" err="1"/>
              <a:t>LangGraph</a:t>
            </a:r>
            <a:r>
              <a:rPr dirty="0"/>
              <a:t> Concepts: Building stateful, multi-actor applications with cycles and conditional branching.</a:t>
            </a:r>
          </a:p>
          <a:p>
            <a:pPr>
              <a:defRPr sz="1800" b="1"/>
            </a:pPr>
            <a:r>
              <a:rPr dirty="0"/>
              <a:t>MCP (Model Context Protocol): Standardizing how agents connect to external data sources and tools securely.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Building Production-Ready AI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FastAPI for AI Services: High-performance, async Python framework for exposing AI endpoints.</a:t>
            </a:r>
          </a:p>
          <a:p>
            <a:pPr>
              <a:defRPr sz="1800" b="1"/>
            </a:pPr>
            <a:r>
              <a:t>Async Processing: Offloading long-running LLM tasks to Celery/Redis to prevent API timeouts.</a:t>
            </a:r>
          </a:p>
          <a:p>
            <a:pPr>
              <a:defRPr sz="1800" b="1"/>
            </a:pPr>
            <a:r>
              <a:t>Authentication &amp; Security: OAuth2, API key management, and strict PII masking before LLM inference.</a:t>
            </a:r>
          </a:p>
          <a:p>
            <a:pPr>
              <a:defRPr sz="1800" b="1"/>
            </a:pPr>
            <a:r>
              <a:t>Logging &amp; Observability: Tracing LLM calls, token usage, and latency using Langfuse, LangSmith, or OpenTelemetry.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Building Production-Ready AI (Ops &amp; Deploy)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Retry &amp; Recovery: Implementing circuit breakers to prevent cascading failures during LLM outages.</a:t>
            </a:r>
          </a:p>
          <a:p>
            <a:pPr>
              <a:defRPr sz="1800" b="1"/>
            </a:pPr>
            <a:r>
              <a:t>Rate Limiting &amp; Caching: Protecting APIs and using Semantic Caching (Redis) to reduce redundant LLM costs.</a:t>
            </a:r>
          </a:p>
          <a:p>
            <a:pPr>
              <a:defRPr sz="1800" b="1"/>
            </a:pPr>
            <a:r>
              <a:t>Environment &amp; Secrets: Managing keys securely via HashiCorp Vault or AWS Secrets Manager.</a:t>
            </a:r>
          </a:p>
          <a:p>
            <a:pPr>
              <a:defRPr sz="1800" b="1"/>
            </a:pPr>
            <a:r>
              <a:t>Docker Deployment: Containerizing AI services with optimized base images and GPU passthrough.</a:t>
            </a:r>
          </a:p>
          <a:p>
            <a:pPr>
              <a:defRPr sz="1800" b="1"/>
            </a:pPr>
            <a:r>
              <a:t>Cost &amp; Performance: Prompt compression, model routing, and batch processing for enterprise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Case Study: Intelligent Customer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Python Components: FastAPI (gateway), LangGraph (agent orchestration), pgvector (RAG).</a:t>
            </a:r>
          </a:p>
          <a:p>
            <a:pPr>
              <a:defRPr sz="1800" b="1"/>
            </a:pPr>
            <a:r>
              <a:t>LLM vs Deterministic: LLM for intent/summarization; Deterministic for routing, refunds, and SLA checks.</a:t>
            </a:r>
          </a:p>
          <a:p>
            <a:pPr>
              <a:defRPr sz="1800" b="1"/>
            </a:pPr>
            <a:r>
              <a:t>RAG Implementation: Ingesting Zendesk/Confluence docs; hybrid search for accurate policy retrieval.</a:t>
            </a:r>
          </a:p>
          <a:p>
            <a:pPr>
              <a:defRPr sz="1800" b="1"/>
            </a:pPr>
            <a:r>
              <a:t>Agent Tool Invocation: Agent calls CRM API to fetch user history, then executes ticket update.</a:t>
            </a:r>
          </a:p>
          <a:p>
            <a:pPr>
              <a:defRPr sz="1800" b="1"/>
            </a:pPr>
            <a:r>
              <a:t>Failures &amp; Security: Fallback to human if confidence &lt; 80%; PII redaction before LLM context injection.</a:t>
            </a:r>
          </a:p>
          <a:p>
            <a:pPr>
              <a:defRPr sz="1800" b="1"/>
            </a:pPr>
            <a:r>
              <a:t>Monitoring: Tracking token costs per resolution, latency percentiles, and customer satisfaction (CSAT).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8C9B-041D-0439-03AD-B16FC989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4077-A567-D7A3-7191-D0E54965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973490" cy="929768"/>
          </a:xfrm>
        </p:spPr>
        <p:txBody>
          <a:bodyPr/>
          <a:lstStyle/>
          <a:p>
            <a:r>
              <a:rPr lang="en-US" sz="2400" dirty="0"/>
              <a:t>Python Programming to AI Application Engineering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C2F4-0741-A98E-4DD8-CB3D0F196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052925"/>
            <a:ext cx="2405357" cy="4195481"/>
          </a:xfrm>
        </p:spPr>
        <p:txBody>
          <a:bodyPr/>
          <a:lstStyle/>
          <a:p>
            <a:pPr marL="0" indent="0">
              <a:buNone/>
              <a:defRPr sz="1800" b="1"/>
            </a:pPr>
            <a:r>
              <a:rPr lang="en-US" dirty="0"/>
              <a:t>User</a:t>
            </a:r>
          </a:p>
          <a:p>
            <a:pPr marL="0" indent="0">
              <a:buNone/>
              <a:defRPr sz="1800" b="1"/>
            </a:pPr>
            <a:r>
              <a:rPr lang="en-US" dirty="0"/>
              <a:t> ↓</a:t>
            </a:r>
          </a:p>
          <a:p>
            <a:pPr marL="0" indent="0">
              <a:buNone/>
              <a:defRPr sz="1800" b="1"/>
            </a:pPr>
            <a:r>
              <a:rPr lang="en-US" dirty="0"/>
              <a:t>Python Application</a:t>
            </a:r>
          </a:p>
          <a:p>
            <a:pPr marL="0" indent="0">
              <a:buNone/>
              <a:defRPr sz="1800" b="1"/>
            </a:pPr>
            <a:r>
              <a:rPr lang="en-US" dirty="0"/>
              <a:t> ↓</a:t>
            </a:r>
          </a:p>
          <a:p>
            <a:pPr marL="0" indent="0">
              <a:buNone/>
              <a:defRPr sz="1800" b="1"/>
            </a:pPr>
            <a:r>
              <a:rPr lang="en-US" dirty="0"/>
              <a:t>Business Logic</a:t>
            </a:r>
          </a:p>
          <a:p>
            <a:pPr marL="0" indent="0">
              <a:buNone/>
              <a:defRPr sz="1800" b="1"/>
            </a:pPr>
            <a:r>
              <a:rPr lang="en-US" dirty="0"/>
              <a:t> ↓</a:t>
            </a:r>
          </a:p>
          <a:p>
            <a:pPr marL="0" indent="0">
              <a:buNone/>
              <a:defRPr sz="1800" b="1"/>
            </a:pPr>
            <a:r>
              <a:rPr lang="en-US" dirty="0"/>
              <a:t>Database / API</a:t>
            </a:r>
          </a:p>
          <a:p>
            <a:pPr marL="0" indent="0">
              <a:buNone/>
              <a:defRPr sz="1800" b="1"/>
            </a:pPr>
            <a:r>
              <a:rPr lang="en-US" dirty="0"/>
              <a:t> ↓</a:t>
            </a:r>
          </a:p>
          <a:p>
            <a:pPr marL="0" indent="0">
              <a:buNone/>
              <a:defRPr sz="1800" b="1"/>
            </a:pPr>
            <a:r>
              <a:rPr lang="en-US" dirty="0"/>
              <a:t>Response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E19FF-F5B7-6EF3-C09B-C922E0DC0486}"/>
              </a:ext>
            </a:extLst>
          </p:cNvPr>
          <p:cNvSpPr txBox="1"/>
          <p:nvPr/>
        </p:nvSpPr>
        <p:spPr>
          <a:xfrm>
            <a:off x="3526970" y="1468041"/>
            <a:ext cx="40494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User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Python Application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AI / LLM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Reasoning / Classification / Generation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Tools / APIs / Database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Business Logic</a:t>
            </a:r>
          </a:p>
          <a:p>
            <a:pPr algn="ctr"/>
            <a:r>
              <a:rPr lang="en-US" b="1" dirty="0"/>
              <a:t> ↓</a:t>
            </a:r>
          </a:p>
          <a:p>
            <a:pPr algn="ctr"/>
            <a:r>
              <a:rPr lang="en-US" b="1" dirty="0"/>
              <a:t>Response / Action</a:t>
            </a:r>
          </a:p>
        </p:txBody>
      </p:sp>
    </p:spTree>
    <p:extLst>
      <p:ext uri="{BB962C8B-B14F-4D97-AF65-F5344CB8AC3E}">
        <p14:creationId xmlns:p14="http://schemas.microsoft.com/office/powerpoint/2010/main" val="66793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CC57-CA1F-722C-5083-D53C208B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D220-805F-61CC-F5C3-C5C06CC8A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973490" cy="733825"/>
          </a:xfrm>
        </p:spPr>
        <p:txBody>
          <a:bodyPr/>
          <a:lstStyle/>
          <a:p>
            <a:r>
              <a:rPr lang="en-US" sz="2400" dirty="0"/>
              <a:t>What Does an LLM Actually Do?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F942-2409-C9C0-5A94-EAA4EFDB5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436915"/>
            <a:ext cx="7445443" cy="4811492"/>
          </a:xfrm>
        </p:spPr>
        <p:txBody>
          <a:bodyPr/>
          <a:lstStyle/>
          <a:p>
            <a:pPr lvl="0"/>
            <a:r>
              <a:rPr lang="en-US" dirty="0"/>
              <a:t>Input → Context → Model → Output </a:t>
            </a:r>
          </a:p>
          <a:p>
            <a:pPr lvl="0"/>
            <a:r>
              <a:rPr lang="en-US" dirty="0"/>
              <a:t>Prompt vs system instruction </a:t>
            </a:r>
          </a:p>
          <a:p>
            <a:pPr lvl="0"/>
            <a:r>
              <a:rPr lang="en-US" dirty="0"/>
              <a:t>Tokens and context window </a:t>
            </a:r>
          </a:p>
          <a:p>
            <a:pPr lvl="0"/>
            <a:r>
              <a:rPr lang="en-US" dirty="0"/>
              <a:t>Model output limitations </a:t>
            </a:r>
          </a:p>
          <a:p>
            <a:pPr lvl="0"/>
            <a:r>
              <a:rPr lang="en-US" dirty="0"/>
              <a:t>Hallucination </a:t>
            </a:r>
          </a:p>
          <a:p>
            <a:pPr lvl="0"/>
            <a:r>
              <a:rPr lang="en-US" dirty="0"/>
              <a:t>Why an LLM should not directly control critical business operations</a:t>
            </a:r>
          </a:p>
          <a:p>
            <a:pPr marL="0" lvl="0" indent="0">
              <a:buNone/>
            </a:pPr>
            <a:r>
              <a:rPr lang="en-US" b="1" dirty="0"/>
              <a:t>LLM = Intelligence/Reasoning Layer</a:t>
            </a:r>
            <a:br>
              <a:rPr lang="en-US" dirty="0"/>
            </a:br>
            <a:r>
              <a:rPr lang="en-US" b="1" dirty="0"/>
              <a:t>Python = Orchestration &amp; Control Layer</a:t>
            </a:r>
            <a:br>
              <a:rPr lang="en-US" dirty="0"/>
            </a:br>
            <a:r>
              <a:rPr lang="en-US" b="1" dirty="0"/>
              <a:t>APIs/Tools = Action Layer</a:t>
            </a:r>
            <a:br>
              <a:rPr lang="en-US" dirty="0"/>
            </a:br>
            <a:r>
              <a:rPr lang="en-US" b="1" dirty="0"/>
              <a:t>Database = Data Layer</a:t>
            </a:r>
            <a:endParaRPr lang="en-US" dirty="0"/>
          </a:p>
          <a:p>
            <a:pPr marL="0" indent="0">
              <a:buNone/>
              <a:defRPr sz="1800" b="1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194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5E90-F60A-D15C-3EBE-2145077A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0AA0-70C0-E67C-9434-739AC4DA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973490" cy="733825"/>
          </a:xfrm>
        </p:spPr>
        <p:txBody>
          <a:bodyPr/>
          <a:lstStyle/>
          <a:p>
            <a:r>
              <a:rPr lang="en-US" sz="2400" dirty="0"/>
              <a:t>AI Application Architecture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07095-ACAD-F727-8CC1-BBED92DC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436915"/>
            <a:ext cx="7445443" cy="48114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1800" b="1"/>
            </a:pPr>
            <a:r>
              <a:rPr lang="en-US" dirty="0"/>
              <a:t> USER</a:t>
            </a:r>
          </a:p>
          <a:p>
            <a:pPr marL="0" indent="0">
              <a:buNone/>
              <a:defRPr sz="1800" b="1"/>
            </a:pPr>
            <a:r>
              <a:rPr lang="en-US" dirty="0"/>
              <a:t>       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       Python Application</a:t>
            </a:r>
          </a:p>
          <a:p>
            <a:pPr marL="0" indent="0">
              <a:buNone/>
              <a:defRPr sz="1800" b="1"/>
            </a:pPr>
            <a:r>
              <a:rPr lang="en-US" dirty="0"/>
              <a:t>       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       ┌──────┴──────┐</a:t>
            </a:r>
          </a:p>
          <a:p>
            <a:pPr marL="0" indent="0">
              <a:buNone/>
              <a:defRPr sz="1800" b="1"/>
            </a:pPr>
            <a:r>
              <a:rPr lang="en-US" dirty="0"/>
              <a:t>        ↓     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      LLM          Business Logic</a:t>
            </a:r>
          </a:p>
          <a:p>
            <a:pPr marL="0" indent="0">
              <a:buNone/>
              <a:defRPr sz="1800" b="1"/>
            </a:pPr>
            <a:r>
              <a:rPr lang="en-US" dirty="0"/>
              <a:t>        ↓     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    Tools/APIs ←─────┘</a:t>
            </a:r>
          </a:p>
          <a:p>
            <a:pPr marL="0" indent="0">
              <a:buNone/>
              <a:defRPr sz="1800" b="1"/>
            </a:pPr>
            <a:r>
              <a:rPr lang="en-US" dirty="0"/>
              <a:t>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   Databases</a:t>
            </a:r>
          </a:p>
          <a:p>
            <a:pPr marL="0" indent="0">
              <a:buNone/>
              <a:defRPr sz="1800" b="1"/>
            </a:pPr>
            <a:r>
              <a:rPr lang="en-US" dirty="0"/>
              <a:t>        ↓</a:t>
            </a:r>
          </a:p>
          <a:p>
            <a:pPr marL="0" indent="0">
              <a:buNone/>
              <a:defRPr sz="1800" b="1"/>
            </a:pPr>
            <a:r>
              <a:rPr lang="en-US" dirty="0"/>
              <a:t> External Systems</a:t>
            </a:r>
          </a:p>
          <a:p>
            <a:pPr marL="0" indent="0">
              <a:buNone/>
              <a:defRPr sz="1800" b="1"/>
            </a:pPr>
            <a:r>
              <a:rPr lang="en-US" b="1" dirty="0"/>
              <a:t>                                       AI Application vs AI Model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2735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8053-FAB5-9C16-A0F4-9F253546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34C2-D8DD-6650-07B8-A8F7A263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973490" cy="733825"/>
          </a:xfrm>
        </p:spPr>
        <p:txBody>
          <a:bodyPr/>
          <a:lstStyle/>
          <a:p>
            <a:r>
              <a:rPr lang="en-US" sz="2400" dirty="0"/>
              <a:t>The AI Integration Stack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67198-5DA2-DFB0-5AC2-08844C4E7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1436915"/>
            <a:ext cx="7445443" cy="481149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  <a:defRPr sz="1800" b="1"/>
            </a:pPr>
            <a:r>
              <a:rPr lang="en-US" dirty="0"/>
              <a:t> AI APPLICATION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         │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┌──────────────┼──────────────┐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↓              ↓              ↓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LLM            RAG           Agents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│              │              │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↓              ↓              ↓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Prompting        Embeddings      Tool Calling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Structured       Vector DB       Planning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Output           Retrieval       Memory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│              │              │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└──────────────┼──────────────┘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         ↓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    Python Layer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         ↓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APIs / Databases / Tools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         ↓</a:t>
            </a:r>
          </a:p>
          <a:p>
            <a:pPr marL="0" indent="0" algn="ctr">
              <a:buNone/>
              <a:defRPr sz="1800" b="1"/>
            </a:pPr>
            <a:r>
              <a:rPr lang="en-US" dirty="0"/>
              <a:t>              Enterprise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15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378</TotalTime>
  <Words>1191</Words>
  <Application>Microsoft Office PowerPoint</Application>
  <PresentationFormat>On-screen Show (4:3)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</vt:lpstr>
      <vt:lpstr>Python for AI Integration &amp; Automation</vt:lpstr>
      <vt:lpstr>1. Advanced LLM Integration (Core)</vt:lpstr>
      <vt:lpstr>1. Advanced LLM Integration (Resilience)</vt:lpstr>
      <vt:lpstr>2. AI-Powered Automation Architecture (Foundations)</vt:lpstr>
      <vt:lpstr>2. AI-Powered Automation Architecture (Execution)</vt:lpstr>
      <vt:lpstr>3. RAG-Based AI Applications (Foundations)</vt:lpstr>
      <vt:lpstr>3. RAG-Based AI Applications (Advanced)</vt:lpstr>
      <vt:lpstr>4. AI Agents &amp; Tool Calling (Core)</vt:lpstr>
      <vt:lpstr>4. AI Agents &amp; Tool Calling (Advanced)</vt:lpstr>
      <vt:lpstr>5. Building Production-Ready AI (Backend)</vt:lpstr>
      <vt:lpstr>5. Building Production-Ready AI (Ops &amp; Deploy)</vt:lpstr>
      <vt:lpstr>6. Case Study: Intelligent Customer Support</vt:lpstr>
      <vt:lpstr>Python Programming to AI Application Engineering</vt:lpstr>
      <vt:lpstr>What Does an LLM Actually Do?</vt:lpstr>
      <vt:lpstr>AI Application Architecture</vt:lpstr>
      <vt:lpstr>The AI Integration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2026-09-10T11:54:33Z</dcterms:modified>
  <cp:category/>
</cp:coreProperties>
</file>