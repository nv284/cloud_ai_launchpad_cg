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Spend time explaining that an API is just a messenger. The LLM is the brain, but it has no eyes or ears. The API provides the interface. Emphasize that tokens are how we pay for AI—it's not per word, but per chunk of characters.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Highlight security here. Freshers often hardcode API keys. Teach them to use environment variables (.env files) immediately. Show a quick mental model of what the JSON request and response look 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this like a story. Use the analogy of ordering at a restaurant: User (Customer) -&gt; App (Waiter) -&gt; API (Kitchen Door) -&gt; LLM (Chef) -&gt; Response (Food).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a crucial concept for developers. If the AI returns plain text, you have to write fragile regex to parse it. If it returns JSON, you can directly map it to your database models. Mention 'Function Calling' as the industry standard for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Emphasize the 'Mindset Shift'. Copilots are incredibly fast but can introduce subtle bugs or security vulnerabilities. The developer is still the pilot; the AI is just the co-pilot.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Give practical examples. For instance, 'Instead of spending 2 hours writing unit tests for a utility function, prompt the AI to write them, then spend 15 minutes reviewing and tweaking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Connect this to business value. AI isn't just for writing code; it's for accelerating the entire business. Mention RAG (Retrieval-Augmented Generation) briefly as the tech behind enterprise knowledge search.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End on a strong note about responsibility. A single leaked API key or a hallucinated piece of code pushed to production can cause major enterprise incidents. 'Trust, but verify' is the golden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for Developers: APIs to Enterprise Productivity</a:t>
            </a:r>
          </a:p>
        </p:txBody>
      </p:sp>
      <p:sp>
        <p:nvSpPr>
          <p:cNvPr id="3" name="Subtitle 2"/>
          <p:cNvSpPr>
            <a:spLocks noGrp="1"/>
          </p:cNvSpPr>
          <p:nvPr>
            <p:ph type="subTitle" idx="1"/>
          </p:nvPr>
        </p:nvSpPr>
        <p:spPr/>
        <p:txBody>
          <a:bodyPr/>
          <a:lstStyle/>
          <a:p>
            <a:r>
              <a:t>A Comprehensive Guide for Freshers</a:t>
            </a:r>
          </a:p>
          <a:p>
            <a:r>
              <a:t>Presented by: [Your Name/Company]</a:t>
            </a:r>
          </a:p>
          <a:p>
            <a:r>
              <a:t>Date: September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AI API Fundamentals</a:t>
            </a:r>
          </a:p>
        </p:txBody>
      </p:sp>
      <p:sp>
        <p:nvSpPr>
          <p:cNvPr id="3" name="Content Placeholder 2"/>
          <p:cNvSpPr>
            <a:spLocks noGrp="1"/>
          </p:cNvSpPr>
          <p:nvPr>
            <p:ph idx="1"/>
          </p:nvPr>
        </p:nvSpPr>
        <p:spPr/>
        <p:txBody>
          <a:bodyPr/>
          <a:lstStyle/>
          <a:p>
            <a:r>
              <a:t>• AI API: A bridge allowing your application to communicate with an AI model over the internet.</a:t>
            </a:r>
          </a:p>
          <a:p>
            <a:r>
              <a:t>• LLM (Large Language Model): The 'brain' (e.g., GPT, Claude) that processes and generates text.</a:t>
            </a:r>
          </a:p>
          <a:p>
            <a:r>
              <a:t>• Prompt: The specific input, context, or instruction sent to the AI.</a:t>
            </a:r>
          </a:p>
          <a:p>
            <a:r>
              <a:t>• Token: The basic unit of text (words/characters) the AI reads/generates; dictates cost and limits.</a:t>
            </a:r>
          </a:p>
          <a:p>
            <a:r>
              <a:t>• Request &amp; Response: The structured data payload sent to the API, and the AI's structured reply.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Calling an AI API from an Application</a:t>
            </a:r>
          </a:p>
        </p:txBody>
      </p:sp>
      <p:sp>
        <p:nvSpPr>
          <p:cNvPr id="3" name="Content Placeholder 2"/>
          <p:cNvSpPr>
            <a:spLocks noGrp="1"/>
          </p:cNvSpPr>
          <p:nvPr>
            <p:ph idx="1"/>
          </p:nvPr>
        </p:nvSpPr>
        <p:spPr/>
        <p:txBody>
          <a:bodyPr/>
          <a:lstStyle/>
          <a:p>
            <a:r>
              <a:t>• API Key: Your unique secret password for authentication (keep it secure!).</a:t>
            </a:r>
          </a:p>
          <a:p>
            <a:r>
              <a:t>• Endpoint: The specific URL where the request is sent (e.g., api.openai.com/v1/chat/completions).</a:t>
            </a:r>
          </a:p>
          <a:p>
            <a:r>
              <a:t>• Authentication: Proving your identity via HTTP headers (e.g., Authorization: Bearer &lt;KEY&gt;).</a:t>
            </a:r>
          </a:p>
          <a:p>
            <a:r>
              <a:t>• JSON: The standard data format for sending the prompt and receiving the response.</a:t>
            </a:r>
          </a:p>
          <a:p>
            <a:r>
              <a:t>• Workflow: App formats JSON -&gt; Sends HTTP POST -&gt; API processes -&gt; Returns JSON response.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AI Execution Flow</a:t>
            </a:r>
          </a:p>
        </p:txBody>
      </p:sp>
      <p:sp>
        <p:nvSpPr>
          <p:cNvPr id="3" name="Content Placeholder 2"/>
          <p:cNvSpPr>
            <a:spLocks noGrp="1"/>
          </p:cNvSpPr>
          <p:nvPr>
            <p:ph idx="1"/>
          </p:nvPr>
        </p:nvSpPr>
        <p:spPr/>
        <p:txBody>
          <a:bodyPr/>
          <a:lstStyle/>
          <a:p>
            <a:r>
              <a:t>• Step 1: User Input - User interacts with your app (typing a question).</a:t>
            </a:r>
          </a:p>
          <a:p>
            <a:r>
              <a:t>• Step 2: Application Logic - Your code formats the input into a Prompt and adds the API Key.</a:t>
            </a:r>
          </a:p>
          <a:p>
            <a:r>
              <a:t>• Step 3: API Request - App sends an HTTP POST request to the AI provider's endpoint.</a:t>
            </a:r>
          </a:p>
          <a:p>
            <a:r>
              <a:t>• Step 4: AI Processing - The LLM processes tokens, calculates probabilities, and generates text.</a:t>
            </a:r>
          </a:p>
          <a:p>
            <a:r>
              <a:t>• Step 5: Response &amp; Display - API returns text to your app, which parses and displays it to the user.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Structured AI Responses</a:t>
            </a:r>
          </a:p>
        </p:txBody>
      </p:sp>
      <p:sp>
        <p:nvSpPr>
          <p:cNvPr id="3" name="Content Placeholder 2"/>
          <p:cNvSpPr>
            <a:spLocks noGrp="1"/>
          </p:cNvSpPr>
          <p:nvPr>
            <p:ph idx="1"/>
          </p:nvPr>
        </p:nvSpPr>
        <p:spPr/>
        <p:txBody>
          <a:bodyPr/>
          <a:lstStyle/>
          <a:p>
            <a:r>
              <a:t>• The Problem: Plain text is hard for applications to parse and use programmatically.</a:t>
            </a:r>
          </a:p>
          <a:p>
            <a:r>
              <a:t>• The Solution: Instruct the AI to return data in structured formats like JSON or XML.</a:t>
            </a:r>
          </a:p>
          <a:p>
            <a:r>
              <a:t>• How it Works: Use system prompts (e.g., 'Return answer strictly as JSON with keys: name, email').</a:t>
            </a:r>
          </a:p>
          <a:p>
            <a:r>
              <a:t>• Benefits: Enables seamless integration with databases, UI components, and automated workflows.</a:t>
            </a:r>
          </a:p>
          <a:p>
            <a:r>
              <a:t>• Pro-Tip: Use modern API features like 'JSON Mode' or 'Function Calling' to guarantee valid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Developer Copilots</a:t>
            </a:r>
          </a:p>
        </p:txBody>
      </p:sp>
      <p:sp>
        <p:nvSpPr>
          <p:cNvPr id="3" name="Content Placeholder 2"/>
          <p:cNvSpPr>
            <a:spLocks noGrp="1"/>
          </p:cNvSpPr>
          <p:nvPr>
            <p:ph idx="1"/>
          </p:nvPr>
        </p:nvSpPr>
        <p:spPr/>
        <p:txBody>
          <a:bodyPr/>
          <a:lstStyle/>
          <a:p>
            <a:r>
              <a:t>• What are they? AI tools integrated directly into your IDE (e.g., GitHub Copilot, Cursor, Codeium).</a:t>
            </a:r>
          </a:p>
          <a:p>
            <a:r>
              <a:t>• How they work: They analyze your current file, open tabs, and cursor position for context.</a:t>
            </a:r>
          </a:p>
          <a:p>
            <a:r>
              <a:t>• Core Features:</a:t>
            </a:r>
          </a:p>
          <a:p>
            <a:r>
              <a:t>   - Real-time code completion (ghost text).</a:t>
            </a:r>
          </a:p>
          <a:p>
            <a:r>
              <a:t>   - Chat interfaces for asking coding questions.</a:t>
            </a:r>
          </a:p>
          <a:p>
            <a:r>
              <a:t>   - Inline commands (e.g., 'Refactor this', 'Add comments').</a:t>
            </a:r>
          </a:p>
          <a:p>
            <a:r>
              <a:t>• Mindset Shift: Treat the Copilot as a junior pair programmer—review its work, don't blindly accept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Boosting Developer Productivity</a:t>
            </a:r>
          </a:p>
        </p:txBody>
      </p:sp>
      <p:sp>
        <p:nvSpPr>
          <p:cNvPr id="3" name="Content Placeholder 2"/>
          <p:cNvSpPr>
            <a:spLocks noGrp="1"/>
          </p:cNvSpPr>
          <p:nvPr>
            <p:ph idx="1"/>
          </p:nvPr>
        </p:nvSpPr>
        <p:spPr/>
        <p:txBody>
          <a:bodyPr/>
          <a:lstStyle/>
          <a:p>
            <a:r>
              <a:t>• Code Generation: Writing boilerplate, CRUD operations, or complex algorithms from natural language.</a:t>
            </a:r>
          </a:p>
          <a:p>
            <a:r>
              <a:t>• Explanation: Breaking down legacy or complex code into understandable, step-by-step logic.</a:t>
            </a:r>
          </a:p>
          <a:p>
            <a:r>
              <a:t>• Debugging: Identifying bugs, explaining stack traces, and suggesting targeted fixes.</a:t>
            </a:r>
          </a:p>
          <a:p>
            <a:r>
              <a:t>• Refactoring: Improving code readability, performance, and adherence to best practices.</a:t>
            </a:r>
          </a:p>
          <a:p>
            <a:r>
              <a:t>• Test Generation: Automatically creating unit tests and edge-case scenarios.</a:t>
            </a:r>
          </a:p>
          <a:p>
            <a:r>
              <a:t>• Documentation: Generating docstrings, READMEs, and API documentation instantly.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Enterprise Productivity Use Cases</a:t>
            </a:r>
          </a:p>
        </p:txBody>
      </p:sp>
      <p:sp>
        <p:nvSpPr>
          <p:cNvPr id="3" name="Content Placeholder 2"/>
          <p:cNvSpPr>
            <a:spLocks noGrp="1"/>
          </p:cNvSpPr>
          <p:nvPr>
            <p:ph idx="1"/>
          </p:nvPr>
        </p:nvSpPr>
        <p:spPr/>
        <p:txBody>
          <a:bodyPr/>
          <a:lstStyle/>
          <a:p>
            <a:r>
              <a:t>• Communication: Summarizing long email threads, drafting replies, generating meeting notes.</a:t>
            </a:r>
          </a:p>
          <a:p>
            <a:r>
              <a:t>• Knowledge Management: Semantic search across company wikis (finding answers, not just documents).</a:t>
            </a:r>
          </a:p>
          <a:p>
            <a:r>
              <a:t>• Customer/IT Support: AI ticket assistance, auto-categorizing tickets, suggesting resolutions.</a:t>
            </a:r>
          </a:p>
          <a:p>
            <a:r>
              <a:t>• Data Analysis: Extracting insights from unstructured data (e.g., summarizing 50 vendor contracts).</a:t>
            </a:r>
          </a:p>
          <a:p>
            <a:r>
              <a:t>• Impact: Shifts employee focus from repetitive tasks to high-value, strategic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Responsible AI &amp; Best Practices</a:t>
            </a:r>
          </a:p>
        </p:txBody>
      </p:sp>
      <p:sp>
        <p:nvSpPr>
          <p:cNvPr id="3" name="Content Placeholder 2"/>
          <p:cNvSpPr>
            <a:spLocks noGrp="1"/>
          </p:cNvSpPr>
          <p:nvPr>
            <p:ph idx="1"/>
          </p:nvPr>
        </p:nvSpPr>
        <p:spPr/>
        <p:txBody>
          <a:bodyPr/>
          <a:lstStyle/>
          <a:p>
            <a:r>
              <a:t>• Data Privacy: Never input PII, passwords, or proprietary code into public AI models.</a:t>
            </a:r>
          </a:p>
          <a:p>
            <a:r>
              <a:t>• Security: Keep API keys out of source code (use environment variables/secrets managers).</a:t>
            </a:r>
          </a:p>
          <a:p>
            <a:r>
              <a:t>• Hallucinations: AI can confidently generate false information. Always validate critical outputs.</a:t>
            </a:r>
          </a:p>
          <a:p>
            <a:r>
              <a:t>• Human in the Loop: AI is an assistant, not the final decision-maker. Humans must review and approve.</a:t>
            </a:r>
          </a:p>
          <a:p>
            <a:r>
              <a:t>• Access Control: Implement Role-Based Access Control (RBAC) so users only see authorized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