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5158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based on CrewAI official documentation: https://docs.crewai.com/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Source: CrewAI official documentation, Introduction: https://docs.crewai.com/core-concepts/Agents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based on CrewAI official documentation: https://docs.crewai.com/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based on CrewAI official documentation: https://docs.crewai.com/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based on CrewAI official documentation: https://docs.crewai.com/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based on CrewAI official documentation: https://docs.crewai.com/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based on CrewAI official documentation: https://docs.crewai.com/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 based on CrewAI official documentation: https://docs.crewai.com/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CrewAI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CE6F5"/>
                </a:solidFill>
              </a:defRPr>
            </a:pPr>
            <a:r>
              <a:t>A beginner-friendly introduction to AI agents, tasks, crews, tools and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800600"/>
            <a:ext cx="2011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E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D37"/>
                </a:solidFill>
              </a:defRPr>
            </a:pPr>
            <a:r>
              <a:t>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4800600"/>
            <a:ext cx="2011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34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D37"/>
                </a:solidFill>
              </a:defRPr>
            </a:pPr>
            <a:r>
              <a:t>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4800600"/>
            <a:ext cx="2011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3A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D37"/>
                </a:solidFill>
              </a:defRPr>
            </a:pPr>
            <a:r>
              <a:t>CREW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1. What is CrewAI?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760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282D37"/>
                </a:solidFill>
              </a:defRPr>
            </a:pPr>
            <a:r>
              <a:t>CrewAI is a Python framework for building applications where AI agents collaborate.</a:t>
            </a:r>
          </a:p>
          <a:p>
            <a:pPr>
              <a:spcAft>
                <a:spcPts val="1100"/>
              </a:spcAft>
              <a:defRPr sz="1900" b="0">
                <a:solidFill>
                  <a:srgbClr val="282D37"/>
                </a:solidFill>
              </a:defRPr>
            </a:pPr>
            <a:r>
              <a:t>An agent can be given a role, goal, tools and instructions.</a:t>
            </a:r>
          </a:p>
          <a:p>
            <a:pPr>
              <a:spcAft>
                <a:spcPts val="1100"/>
              </a:spcAft>
              <a:defRPr sz="1900" b="0">
                <a:solidFill>
                  <a:srgbClr val="282D37"/>
                </a:solidFill>
              </a:defRPr>
            </a:pPr>
            <a:r>
              <a:t>A crew groups specialized agents together to complete a larger objective.</a:t>
            </a:r>
          </a:p>
          <a:p>
            <a:pPr>
              <a:spcAft>
                <a:spcPts val="1100"/>
              </a:spcAft>
              <a:defRPr sz="1900" b="0">
                <a:solidFill>
                  <a:srgbClr val="282D37"/>
                </a:solidFill>
              </a:defRPr>
            </a:pPr>
            <a:r>
              <a:t>CrewAI also provides Flows for structured, event-driven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508760"/>
            <a:ext cx="2286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D37"/>
                </a:solidFill>
              </a:defRPr>
            </a:pPr>
            <a:r>
              <a:t>Business Goal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58200" y="2240280"/>
            <a:ext cx="0" cy="45720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0" y="2743200"/>
            <a:ext cx="2286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E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D37"/>
                </a:solidFill>
              </a:defRPr>
            </a:pPr>
            <a:r>
              <a:t>AI Crew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58200" y="3474720"/>
            <a:ext cx="0" cy="45720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0" y="3977639"/>
            <a:ext cx="2286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3A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D37"/>
                </a:solidFill>
              </a:defRPr>
            </a:pPr>
            <a:r>
              <a:t>Useful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2. The Core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82"/>
                </a:solidFill>
              </a:defRPr>
            </a:pPr>
            <a:r>
              <a:t>Think of CrewAI like a small AI project team.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E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82D37"/>
                </a:solidFill>
              </a:defRPr>
            </a:pPr>
            <a:r>
              <a:t>Agent</a:t>
            </a:r>
            <a:br/>
            <a:r>
              <a:t>A specialist that reasons and 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50876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4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82D37"/>
                </a:solidFill>
              </a:defRPr>
            </a:pPr>
            <a:r>
              <a:t>Task</a:t>
            </a:r>
            <a:br/>
            <a:r>
              <a:t>A specific piece of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50876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A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82D37"/>
                </a:solidFill>
              </a:defRPr>
            </a:pPr>
            <a:r>
              <a:t>Crew</a:t>
            </a:r>
            <a:br/>
            <a:r>
              <a:t>A team of agents +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50876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82D37"/>
                </a:solidFill>
              </a:defRPr>
            </a:pPr>
            <a:r>
              <a:t>Tool</a:t>
            </a:r>
            <a:br/>
            <a:r>
              <a:t>A capability such as search/API access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2212848"/>
            <a:ext cx="228600" cy="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0" y="2212848"/>
            <a:ext cx="228600" cy="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01000" y="2212848"/>
            <a:ext cx="228600" cy="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8862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282D37"/>
                </a:solidFill>
              </a:defRPr>
            </a:pPr>
            <a:r>
              <a:t>Simple mental model: Agent = who, Task = what, Tool = how, Crew = who works together.</a:t>
            </a:r>
          </a:p>
          <a:p>
            <a:pPr>
              <a:spcAft>
                <a:spcPts val="1100"/>
              </a:spcAft>
              <a:defRPr sz="1800" b="0">
                <a:solidFill>
                  <a:srgbClr val="282D37"/>
                </a:solidFill>
              </a:defRPr>
            </a:pPr>
            <a:r>
              <a:t>These pieces can be combined into larger AI workflows.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3. Agents: Give AI a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282D37"/>
                </a:solidFill>
              </a:defRPr>
            </a:pPr>
            <a:r>
              <a:t>Role: describes what the agent is responsible for.</a:t>
            </a:r>
          </a:p>
          <a:p>
            <a:pPr>
              <a:spcAft>
                <a:spcPts val="1100"/>
              </a:spcAft>
              <a:defRPr sz="1800" b="0">
                <a:solidFill>
                  <a:srgbClr val="282D37"/>
                </a:solidFill>
              </a:defRPr>
            </a:pPr>
            <a:r>
              <a:t>Goal: states what the agent should achieve.</a:t>
            </a:r>
          </a:p>
          <a:p>
            <a:pPr>
              <a:spcAft>
                <a:spcPts val="1100"/>
              </a:spcAft>
              <a:defRPr sz="1800" b="0">
                <a:solidFill>
                  <a:srgbClr val="282D37"/>
                </a:solidFill>
              </a:defRPr>
            </a:pPr>
            <a:r>
              <a:t>Backstory / instructions: gives useful context and behavior guidance.</a:t>
            </a:r>
          </a:p>
          <a:p>
            <a:pPr>
              <a:spcAft>
                <a:spcPts val="1100"/>
              </a:spcAft>
              <a:defRPr sz="1800" b="0">
                <a:solidFill>
                  <a:srgbClr val="282D37"/>
                </a:solidFill>
              </a:defRPr>
            </a:pPr>
            <a:r>
              <a:t>Tools: let the agent interact with information or external systems.</a:t>
            </a:r>
          </a:p>
          <a:p>
            <a:pPr>
              <a:spcAft>
                <a:spcPts val="1100"/>
              </a:spcAft>
              <a:defRPr sz="1800" b="0">
                <a:solidFill>
                  <a:srgbClr val="282D37"/>
                </a:solidFill>
              </a:defRPr>
            </a:pPr>
            <a:r>
              <a:t>Example: Researcher → finds information; Writer → turns findings into a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4173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E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D37"/>
                </a:solidFill>
              </a:defRPr>
            </a:pPr>
            <a:r>
              <a:t>RESEARCHER</a:t>
            </a:r>
            <a:br/>
            <a:r>
              <a:t>Role: Find facts</a:t>
            </a:r>
            <a:br/>
            <a:r>
              <a:t>Goal: Reliable summary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281160" y="2834640"/>
            <a:ext cx="0" cy="41148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543800" y="329184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4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D37"/>
                </a:solidFill>
              </a:defRPr>
            </a:pPr>
            <a:r>
              <a:t>WRITER</a:t>
            </a:r>
            <a:br/>
            <a:r>
              <a:t>Role: Explain findings</a:t>
            </a:r>
            <a:br/>
            <a:r>
              <a:t>Goal: Clear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4. Tasks, Crews and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282D37"/>
                </a:solidFill>
              </a:defRPr>
            </a:pPr>
            <a:r>
              <a:t>Task = a clearly defined assignment with an expected result.</a:t>
            </a:r>
          </a:p>
          <a:p>
            <a:pPr>
              <a:spcAft>
                <a:spcPts val="1100"/>
              </a:spcAft>
              <a:defRPr sz="1800" b="0">
                <a:solidFill>
                  <a:srgbClr val="282D37"/>
                </a:solidFill>
              </a:defRPr>
            </a:pPr>
            <a:r>
              <a:t>Crew = the group that coordinates agents and their tasks.</a:t>
            </a:r>
          </a:p>
          <a:p>
            <a:pPr>
              <a:spcAft>
                <a:spcPts val="1100"/>
              </a:spcAft>
              <a:defRPr sz="1800" b="0">
                <a:solidFill>
                  <a:srgbClr val="282D37"/>
                </a:solidFill>
              </a:defRPr>
            </a:pPr>
            <a:r>
              <a:t>Process = the way work is organized, such as sequential execution.</a:t>
            </a:r>
          </a:p>
          <a:p>
            <a:pPr>
              <a:spcAft>
                <a:spcPts val="1100"/>
              </a:spcAft>
              <a:defRPr sz="1800" b="0">
                <a:solidFill>
                  <a:srgbClr val="282D37"/>
                </a:solidFill>
              </a:defRPr>
            </a:pPr>
            <a:r>
              <a:t>Good task design makes outputs easier to evaluate.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41732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E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D37"/>
                </a:solidFill>
              </a:defRPr>
            </a:pPr>
            <a:r>
              <a:t>Task 1</a:t>
            </a:r>
            <a:br/>
            <a:r>
              <a:t>Research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549640" y="1828800"/>
            <a:ext cx="594360" cy="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89720" y="141732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4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D37"/>
                </a:solidFill>
              </a:defRPr>
            </a:pPr>
            <a:r>
              <a:t>Task 2</a:t>
            </a:r>
            <a:br/>
            <a:r>
              <a:t>Analyze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104120" y="2240280"/>
            <a:ext cx="0" cy="64008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89720" y="292608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A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D37"/>
                </a:solidFill>
              </a:defRPr>
            </a:pPr>
            <a:r>
              <a:t>Task 3</a:t>
            </a:r>
            <a:br/>
            <a:r>
              <a:t>Write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4251960"/>
            <a:ext cx="4297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82D37"/>
                </a:solidFill>
              </a:defRPr>
            </a:pPr>
            <a:r>
              <a:t>Crew Process: Research → Analyze → 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5. Tools and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282D37"/>
                </a:solidFill>
              </a:defRPr>
            </a:pPr>
            <a:r>
              <a:t>Tools connect agents to capabilities outside the language model.</a:t>
            </a:r>
          </a:p>
          <a:p>
            <a:pPr>
              <a:spcAft>
                <a:spcPts val="1100"/>
              </a:spcAft>
              <a:defRPr sz="1700" b="0">
                <a:solidFill>
                  <a:srgbClr val="282D37"/>
                </a:solidFill>
              </a:defRPr>
            </a:pPr>
            <a:r>
              <a:t>Examples: web search, APIs, databases, files or custom Python functions.</a:t>
            </a:r>
          </a:p>
          <a:p>
            <a:pPr>
              <a:spcAft>
                <a:spcPts val="1100"/>
              </a:spcAft>
              <a:defRPr sz="1700" b="0">
                <a:solidFill>
                  <a:srgbClr val="282D37"/>
                </a:solidFill>
              </a:defRPr>
            </a:pPr>
            <a:r>
              <a:t>Flows provide structured control: start a workflow, pass state, branch, and continue.</a:t>
            </a:r>
          </a:p>
          <a:p>
            <a:pPr>
              <a:spcAft>
                <a:spcPts val="1100"/>
              </a:spcAft>
              <a:defRPr sz="1700" b="0">
                <a:solidFill>
                  <a:srgbClr val="282D37"/>
                </a:solidFill>
              </a:defRPr>
            </a:pPr>
            <a:r>
              <a:t>Beginner rule: use a Crew for collaborative AI work; use a Flow when you need explicit workflow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32588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D37"/>
                </a:solidFill>
              </a:defRPr>
            </a:pPr>
            <a:r>
              <a:t>Flow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321040" y="2011680"/>
            <a:ext cx="0" cy="45720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766560" y="2514600"/>
            <a:ext cx="3108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4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D37"/>
                </a:solidFill>
              </a:defRPr>
            </a:pPr>
            <a:r>
              <a:t>Trigger / Input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321040" y="3200400"/>
            <a:ext cx="0" cy="45720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766560" y="3703320"/>
            <a:ext cx="3108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E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D37"/>
                </a:solidFill>
              </a:defRPr>
            </a:pPr>
            <a:r>
              <a:t>Crew + Agents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21040" y="4389120"/>
            <a:ext cx="0" cy="45720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66560" y="4892040"/>
            <a:ext cx="3108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A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282D37"/>
                </a:solidFill>
              </a:defRPr>
            </a:pPr>
            <a:r>
              <a:t>Result / 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6. How a Simple CrewAI Application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94360" cy="594360"/>
          </a:xfrm>
          <a:prstGeom prst="roundRect">
            <a:avLst/>
          </a:prstGeom>
          <a:solidFill>
            <a:srgbClr val="346EBE"/>
          </a:solidFill>
          <a:ln>
            <a:solidFill>
              <a:srgbClr val="34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D37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60604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4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82D37"/>
                </a:solidFill>
              </a:defRPr>
            </a:pPr>
            <a:r>
              <a:t>User gives a goal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3182112"/>
            <a:ext cx="548639" cy="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80360" y="1828800"/>
            <a:ext cx="594360" cy="594360"/>
          </a:xfrm>
          <a:prstGeom prst="roundRect">
            <a:avLst/>
          </a:prstGeom>
          <a:solidFill>
            <a:srgbClr val="346EBE"/>
          </a:solidFill>
          <a:ln>
            <a:solidFill>
              <a:srgbClr val="34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D37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260604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4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82D37"/>
                </a:solidFill>
              </a:defRPr>
            </a:pPr>
            <a:r>
              <a:t>CrewAI assigns work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63440" y="3182112"/>
            <a:ext cx="548639" cy="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66360" y="1828800"/>
            <a:ext cx="594360" cy="594360"/>
          </a:xfrm>
          <a:prstGeom prst="roundRect">
            <a:avLst/>
          </a:prstGeom>
          <a:solidFill>
            <a:srgbClr val="346EBE"/>
          </a:solidFill>
          <a:ln>
            <a:solidFill>
              <a:srgbClr val="34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D37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60604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4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82D37"/>
                </a:solidFill>
              </a:defRPr>
            </a:pPr>
            <a:r>
              <a:t>Agents use tools / LLM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0" y="3182112"/>
            <a:ext cx="548639" cy="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52360" y="1828800"/>
            <a:ext cx="594360" cy="594360"/>
          </a:xfrm>
          <a:prstGeom prst="roundRect">
            <a:avLst/>
          </a:prstGeom>
          <a:solidFill>
            <a:srgbClr val="346EBE"/>
          </a:solidFill>
          <a:ln>
            <a:solidFill>
              <a:srgbClr val="34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D37"/>
                </a:solidFill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60604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4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82D37"/>
                </a:solidFill>
              </a:defRPr>
            </a:pPr>
            <a:r>
              <a:t>Tasks produce outputs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0" y="3182112"/>
            <a:ext cx="548640" cy="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8360" y="1828800"/>
            <a:ext cx="594360" cy="594360"/>
          </a:xfrm>
          <a:prstGeom prst="roundRect">
            <a:avLst/>
          </a:prstGeom>
          <a:solidFill>
            <a:srgbClr val="346EBE"/>
          </a:solidFill>
          <a:ln>
            <a:solidFill>
              <a:srgbClr val="34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2D37"/>
                </a:solidFill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260604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4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82D37"/>
                </a:solidFill>
              </a:defRPr>
            </a:pPr>
            <a:r>
              <a:t>Final result is returned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09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 b="0">
                <a:solidFill>
                  <a:srgbClr val="282D37"/>
                </a:solidFill>
              </a:defRPr>
            </a:pPr>
            <a:r>
              <a:t>The important idea: the application coordinates specialized AI workers instead of asking one prompt to do everything.</a:t>
            </a:r>
          </a:p>
          <a:p>
            <a:pPr>
              <a:spcAft>
                <a:spcPts val="1100"/>
              </a:spcAft>
              <a:defRPr sz="1500" b="0">
                <a:solidFill>
                  <a:srgbClr val="282D37"/>
                </a:solidFill>
              </a:defRPr>
            </a:pPr>
            <a:r>
              <a:t>For production systems, add validation, observability, security and human review where needed.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7. Real-World Example: Market Research 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400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282D37"/>
                </a:solidFill>
              </a:defRPr>
            </a:pPr>
            <a:r>
              <a:t>Goal: create a beginner-friendly competitor research report.</a:t>
            </a:r>
          </a:p>
          <a:p>
            <a:pPr>
              <a:spcAft>
                <a:spcPts val="1100"/>
              </a:spcAft>
              <a:defRPr sz="1700" b="0">
                <a:solidFill>
                  <a:srgbClr val="282D37"/>
                </a:solidFill>
              </a:defRPr>
            </a:pPr>
            <a:r>
              <a:t>Agent 1 — Researcher: gathers public information using approved tools.</a:t>
            </a:r>
          </a:p>
          <a:p>
            <a:pPr>
              <a:spcAft>
                <a:spcPts val="1100"/>
              </a:spcAft>
              <a:defRPr sz="1700" b="0">
                <a:solidFill>
                  <a:srgbClr val="282D37"/>
                </a:solidFill>
              </a:defRPr>
            </a:pPr>
            <a:r>
              <a:t>Agent 2 — Analyst: compares products, pricing and themes.</a:t>
            </a:r>
          </a:p>
          <a:p>
            <a:pPr>
              <a:spcAft>
                <a:spcPts val="1100"/>
              </a:spcAft>
              <a:defRPr sz="1700" b="0">
                <a:solidFill>
                  <a:srgbClr val="282D37"/>
                </a:solidFill>
              </a:defRPr>
            </a:pPr>
            <a:r>
              <a:t>Agent 3 — Writer: creates a concise report with sources and key findings.</a:t>
            </a:r>
          </a:p>
          <a:p>
            <a:pPr>
              <a:spcAft>
                <a:spcPts val="1100"/>
              </a:spcAft>
              <a:defRPr sz="1700" b="0">
                <a:solidFill>
                  <a:srgbClr val="282D37"/>
                </a:solidFill>
              </a:defRPr>
            </a:pPr>
            <a:r>
              <a:t>Crew: coordinates the tasks and combines the outputs.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234440"/>
            <a:ext cx="2926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E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D37"/>
                </a:solidFill>
              </a:defRPr>
            </a:pPr>
            <a:r>
              <a:t>Researcher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915400" y="1920240"/>
            <a:ext cx="0" cy="41148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52360" y="2377440"/>
            <a:ext cx="2926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4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D37"/>
                </a:solidFill>
              </a:defRPr>
            </a:pPr>
            <a:r>
              <a:t>Analyst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915400" y="3063240"/>
            <a:ext cx="0" cy="41148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52360" y="3520440"/>
            <a:ext cx="2926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A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D37"/>
                </a:solidFill>
              </a:defRPr>
            </a:pPr>
            <a:r>
              <a:t>Writer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15400" y="4206240"/>
            <a:ext cx="0" cy="411480"/>
          </a:xfrm>
          <a:prstGeom prst="line">
            <a:avLst/>
          </a:prstGeom>
          <a:ln w="25400">
            <a:solidFill>
              <a:srgbClr val="34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086600" y="4663440"/>
            <a:ext cx="3657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2D37"/>
                </a:solidFill>
              </a:defRPr>
            </a:pPr>
            <a:r>
              <a:t>Final Research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668</Words>
  <Application>Microsoft Office PowerPoint</Application>
  <PresentationFormat>Widescreen</PresentationFormat>
  <Paragraphs>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hp</cp:lastModifiedBy>
  <cp:revision>1</cp:revision>
  <dcterms:created xsi:type="dcterms:W3CDTF">2013-01-27T09:14:16Z</dcterms:created>
  <dcterms:modified xsi:type="dcterms:W3CDTF">2026-09-23T08:03:25Z</dcterms:modified>
  <cp:category/>
</cp:coreProperties>
</file>