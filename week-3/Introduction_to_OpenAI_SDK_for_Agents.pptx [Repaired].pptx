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8" d="100"/>
          <a:sy n="68" d="100"/>
        </p:scale>
        <p:origin x="360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Introduction to OpenAI SDK for Agents</a:t>
            </a:r>
          </a:p>
          <a:p>
            <a:pPr>
              <a:defRPr sz="2000">
                <a:solidFill>
                  <a:srgbClr val="D2DCEB"/>
                </a:solidFill>
              </a:defRPr>
            </a:pPr>
            <a:r>
              <a:t>A beginner-friendly, code-first introduction to building agents in Python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3977639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73152" cy="1234440"/>
          </a:xfrm>
          <a:prstGeom prst="rect">
            <a:avLst/>
          </a:prstGeom>
          <a:solidFill>
            <a:srgbClr val="27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4142231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4636007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Understand agents, tools, runs, handoffs and guardrails.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977639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3977639"/>
            <a:ext cx="73152" cy="1234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1728" y="4142231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4636007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Create and run your first Python agent.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977639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3977639"/>
            <a:ext cx="73152" cy="1234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4142231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Apply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4636007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Use a practical customer-support case study.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A"/>
                </a:solidFill>
              </a:defRPr>
            </a:pPr>
            <a:r>
              <a:t>2. Overview of the OpenAI 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C78"/>
                </a:solidFill>
              </a:defRPr>
            </a:pPr>
            <a:r>
              <a:t>Where the Agents SDK fits in the OpenAI developer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73152" cy="1828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2763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OpenAI SDK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21408"/>
            <a:ext cx="310896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Official client libraries for working with OpenAI APIs from application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463040"/>
            <a:ext cx="73152" cy="1828800"/>
          </a:xfrm>
          <a:prstGeom prst="rect">
            <a:avLst/>
          </a:prstGeom>
          <a:solidFill>
            <a:srgbClr val="27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62763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Agents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121408"/>
            <a:ext cx="310896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A code-first framework for reusable agents, tools, handoffs, guardrails and tracing.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4630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463040"/>
            <a:ext cx="73152" cy="1828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162763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Your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121408"/>
            <a:ext cx="2526013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rPr dirty="0"/>
              <a:t>Your server owns deployment, tool </a:t>
            </a:r>
            <a:endParaRPr lang="en-US" dirty="0"/>
          </a:p>
          <a:p>
            <a:pPr>
              <a:defRPr sz="1250">
                <a:solidFill>
                  <a:srgbClr val="232B34"/>
                </a:solidFill>
              </a:defRPr>
            </a:pPr>
            <a:r>
              <a:rPr dirty="0"/>
              <a:t>implementations, state storage and </a:t>
            </a:r>
            <a:endParaRPr lang="en-US" dirty="0"/>
          </a:p>
          <a:p>
            <a:pPr>
              <a:defRPr sz="1250">
                <a:solidFill>
                  <a:srgbClr val="232B34"/>
                </a:solidFill>
              </a:defRPr>
            </a:pPr>
            <a:r>
              <a:rPr dirty="0"/>
              <a:t>approval decisions.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06240"/>
            <a:ext cx="1898294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User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21254" y="4617720"/>
            <a:ext cx="256032" cy="0"/>
          </a:xfrm>
          <a:prstGeom prst="line">
            <a:avLst/>
          </a:prstGeom>
          <a:ln w="25400">
            <a:solidFill>
              <a:srgbClr val="27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977286" y="4206240"/>
            <a:ext cx="1898294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Your app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75580" y="4617720"/>
            <a:ext cx="256032" cy="0"/>
          </a:xfrm>
          <a:prstGeom prst="line">
            <a:avLst/>
          </a:prstGeom>
          <a:ln w="25400">
            <a:solidFill>
              <a:srgbClr val="27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31612" y="4206240"/>
            <a:ext cx="1898294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Agents SDK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29907" y="4617720"/>
            <a:ext cx="256032" cy="0"/>
          </a:xfrm>
          <a:prstGeom prst="line">
            <a:avLst/>
          </a:prstGeom>
          <a:ln w="25400">
            <a:solidFill>
              <a:srgbClr val="27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85939" y="4206240"/>
            <a:ext cx="1898294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Model + tools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84233" y="4617720"/>
            <a:ext cx="256032" cy="0"/>
          </a:xfrm>
          <a:prstGeom prst="line">
            <a:avLst/>
          </a:prstGeom>
          <a:ln w="25400">
            <a:solidFill>
              <a:srgbClr val="27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440265" y="4206240"/>
            <a:ext cx="1898294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26C78"/>
                </a:solidFill>
              </a:defRPr>
            </a:pPr>
            <a:r>
              <a:t>OpenAI Agents SDK • Beginner Guide    |  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A"/>
                </a:solidFill>
              </a:defRPr>
            </a:pPr>
            <a:r>
              <a:t>3. What Are Agents?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C78"/>
                </a:solidFill>
              </a:defRPr>
            </a:pPr>
            <a:r>
              <a:t>Think: model + instructions + tools + a controlled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4173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1.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7568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What should the agent accomplish?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1732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29000" y="1417320"/>
            <a:ext cx="73152" cy="1417320"/>
          </a:xfrm>
          <a:prstGeom prst="rect">
            <a:avLst/>
          </a:prstGeom>
          <a:solidFill>
            <a:srgbClr val="27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0168" y="15819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2. 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07568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Rules and behavior for the agent.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73152" cy="1417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15819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3.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07568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Functions or services it can call.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41732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15400" y="1417320"/>
            <a:ext cx="73152" cy="14173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16568" y="15819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4.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8" y="2075688"/>
            <a:ext cx="194906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rPr dirty="0"/>
              <a:t>Run → tool call → observe </a:t>
            </a:r>
            <a:endParaRPr lang="en-US" dirty="0"/>
          </a:p>
          <a:p>
            <a:pPr>
              <a:defRPr sz="1250">
                <a:solidFill>
                  <a:srgbClr val="232B34"/>
                </a:solidFill>
              </a:defRPr>
            </a:pPr>
            <a:r>
              <a:rPr dirty="0"/>
              <a:t>→ continue.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794760"/>
            <a:ext cx="1539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User request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62200" y="4206240"/>
            <a:ext cx="256032" cy="0"/>
          </a:xfrm>
          <a:prstGeom prst="line">
            <a:avLst/>
          </a:prstGeom>
          <a:ln w="25400">
            <a:solidFill>
              <a:srgbClr val="27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618232" y="3794760"/>
            <a:ext cx="1539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Agent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57472" y="4206240"/>
            <a:ext cx="256032" cy="0"/>
          </a:xfrm>
          <a:prstGeom prst="line">
            <a:avLst/>
          </a:prstGeom>
          <a:ln w="25400">
            <a:solidFill>
              <a:srgbClr val="27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413504" y="3794760"/>
            <a:ext cx="1539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Model reasoning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52744" y="4206240"/>
            <a:ext cx="256032" cy="0"/>
          </a:xfrm>
          <a:prstGeom prst="line">
            <a:avLst/>
          </a:prstGeom>
          <a:ln w="25400">
            <a:solidFill>
              <a:srgbClr val="27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08776" y="3794760"/>
            <a:ext cx="1539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Tool call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48016" y="4206240"/>
            <a:ext cx="256032" cy="0"/>
          </a:xfrm>
          <a:prstGeom prst="line">
            <a:avLst/>
          </a:prstGeom>
          <a:ln w="25400">
            <a:solidFill>
              <a:srgbClr val="27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004048" y="3794760"/>
            <a:ext cx="1539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Observation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43288" y="4206240"/>
            <a:ext cx="256032" cy="0"/>
          </a:xfrm>
          <a:prstGeom prst="line">
            <a:avLst/>
          </a:prstGeom>
          <a:ln w="25400">
            <a:solidFill>
              <a:srgbClr val="27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799320" y="3794760"/>
            <a:ext cx="1539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Final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07492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8243A"/>
                </a:solidFill>
              </a:defRPr>
            </a:pPr>
            <a:r>
              <a:t>Key idea: an agent can plan and complete multi-step work using tools and can work with other agents.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26C78"/>
                </a:solidFill>
              </a:defRPr>
            </a:pPr>
            <a:r>
              <a:t>OpenAI Agents SDK • Beginner Guide    |  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A"/>
                </a:solidFill>
              </a:defRPr>
            </a:pPr>
            <a:r>
              <a:t>4. Key Features of the OpenAI Agents 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C78"/>
                </a:solidFill>
              </a:defRPr>
            </a:pPr>
            <a:r>
              <a:t>Start small, then add capabilities as the workflow grows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600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75688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Define focused specialists with instructions and model settings.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73152" cy="1600200"/>
          </a:xfrm>
          <a:prstGeom prst="rect">
            <a:avLst/>
          </a:prstGeom>
          <a:solidFill>
            <a:srgbClr val="27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15819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075688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Give agents controlled capabilities through function tools or integrations.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41732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1417320"/>
            <a:ext cx="73152" cy="1600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5819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Handoffs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075688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Transfer work between specialist agents when ownership changes.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8328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383280"/>
            <a:ext cx="73152" cy="1600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54787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Guardrails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041648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Validate inputs/outputs and pause or block risky work.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38328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60" y="3383280"/>
            <a:ext cx="73152" cy="1600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81728" y="354787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Sessions /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4041648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Carry context across turns and resumable workflows.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38328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75320" y="3383280"/>
            <a:ext cx="73152" cy="1600200"/>
          </a:xfrm>
          <a:prstGeom prst="rect">
            <a:avLst/>
          </a:prstGeom>
          <a:solidFill>
            <a:srgbClr val="27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76488" y="354787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Tracing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4041648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Inspect runs to debug, evaluate and improve agent behavior.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26C78"/>
                </a:solidFill>
              </a:defRPr>
            </a:pPr>
            <a:r>
              <a:t>OpenAI Agents SDK • Beginner Guide    |  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A"/>
                </a:solidFill>
              </a:defRPr>
            </a:pPr>
            <a:r>
              <a:t>5. Setting Up the OpenAI Agents 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C78"/>
                </a:solidFill>
              </a:defRPr>
            </a:pPr>
            <a:r>
              <a:t>Python quickstart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760720" cy="4389120"/>
          </a:xfrm>
          <a:prstGeom prst="roundRect">
            <a:avLst/>
          </a:prstGeom>
          <a:solidFill>
            <a:srgbClr val="1E2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53035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# Create a virtual environment</a:t>
            </a:r>
            <a:br/>
            <a:r>
              <a:t>python -m venv .venv</a:t>
            </a:r>
            <a:br/>
            <a:br/>
            <a:r>
              <a:t># Activate it, then install</a:t>
            </a:r>
            <a:br/>
            <a:r>
              <a:t>pip install openai-agents</a:t>
            </a:r>
            <a:br/>
            <a:br/>
            <a:r>
              <a:t># Set your API key outside the code</a:t>
            </a:r>
            <a:br/>
            <a:r>
              <a:t># PowerShell:</a:t>
            </a:r>
            <a:br/>
            <a:r>
              <a:t>setx OPENAI_API_KEY "your_api_key_here"</a:t>
            </a:r>
            <a:br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903720" y="1417320"/>
            <a:ext cx="4389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03720" y="1417320"/>
            <a:ext cx="73152" cy="1325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04888" y="1581912"/>
            <a:ext cx="40233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Prerequisites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4888" y="2075688"/>
            <a:ext cx="402335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Python, an OpenAI API key, and a small project folder.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926080"/>
            <a:ext cx="4389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903720" y="2926080"/>
            <a:ext cx="73152" cy="1325880"/>
          </a:xfrm>
          <a:prstGeom prst="rect">
            <a:avLst/>
          </a:prstGeom>
          <a:solidFill>
            <a:srgbClr val="27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04888" y="3090672"/>
            <a:ext cx="40233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4888" y="3584448"/>
            <a:ext cx="402335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Keep the key in an environment variable or secret manager—not source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4434840"/>
            <a:ext cx="4389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03720" y="4434840"/>
            <a:ext cx="73152" cy="1325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04888" y="4599431"/>
            <a:ext cx="40233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First 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5093207"/>
            <a:ext cx="402335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Run one focused agent before adding tools or multiple agents.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26C78"/>
                </a:solidFill>
              </a:defRPr>
            </a:pPr>
            <a:r>
              <a:t>OpenAI Agents SDK • Beginner Guide    |  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A"/>
                </a:solidFill>
              </a:defRPr>
            </a:pPr>
            <a:r>
              <a:t>6. Basic Concepts of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C78"/>
                </a:solidFill>
              </a:defRPr>
            </a:pPr>
            <a:r>
              <a:t>The five building blocks beginners should remember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7498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399032"/>
            <a:ext cx="76196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rPr sz="1200"/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92808"/>
            <a:ext cx="10332719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rPr dirty="0"/>
              <a:t>A configured specialist with instructions and model settings.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73152" cy="749808"/>
          </a:xfrm>
          <a:prstGeom prst="rect">
            <a:avLst/>
          </a:prstGeom>
          <a:solidFill>
            <a:srgbClr val="27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359152"/>
            <a:ext cx="103327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Runner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852928"/>
            <a:ext cx="10332719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Executes the agent workflow and returns a result.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5468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154680"/>
            <a:ext cx="73152" cy="7498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319272"/>
            <a:ext cx="103327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813048"/>
            <a:ext cx="10332719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rPr dirty="0"/>
              <a:t>A capability the agent can call to get data or perform an action.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4114800"/>
            <a:ext cx="73152" cy="7498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4279392"/>
            <a:ext cx="103327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rPr dirty="0"/>
              <a:t>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773168"/>
            <a:ext cx="10332719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rPr dirty="0"/>
              <a:t>Transfers control to another specialist agent.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7492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5074920"/>
            <a:ext cx="73152" cy="7498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5239512"/>
            <a:ext cx="103327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Guardrail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9" y="5733287"/>
            <a:ext cx="980444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rPr dirty="0"/>
              <a:t>A validation or safety boundary around agent behavior.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26C78"/>
                </a:solidFill>
              </a:defRPr>
            </a:pPr>
            <a:r>
              <a:t>OpenAI Agents SDK • Beginner Guide    |  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A"/>
                </a:solidFill>
              </a:defRPr>
            </a:pPr>
            <a:r>
              <a:t>7. How Agents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C78"/>
                </a:solidFill>
              </a:defRPr>
            </a:pPr>
            <a:r>
              <a:t>A simplified agent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539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Input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62200" y="2240280"/>
            <a:ext cx="256032" cy="0"/>
          </a:xfrm>
          <a:prstGeom prst="line">
            <a:avLst/>
          </a:prstGeom>
          <a:ln w="25400">
            <a:solidFill>
              <a:srgbClr val="27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18232" y="1828800"/>
            <a:ext cx="1539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Instructions + context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57472" y="2240280"/>
            <a:ext cx="256032" cy="0"/>
          </a:xfrm>
          <a:prstGeom prst="line">
            <a:avLst/>
          </a:prstGeom>
          <a:ln w="25400">
            <a:solidFill>
              <a:srgbClr val="27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13504" y="1828800"/>
            <a:ext cx="1539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Model decides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52744" y="2240280"/>
            <a:ext cx="256032" cy="0"/>
          </a:xfrm>
          <a:prstGeom prst="line">
            <a:avLst/>
          </a:prstGeom>
          <a:ln w="25400">
            <a:solidFill>
              <a:srgbClr val="27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08776" y="1828800"/>
            <a:ext cx="1539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Tool?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48016" y="2240280"/>
            <a:ext cx="256032" cy="0"/>
          </a:xfrm>
          <a:prstGeom prst="line">
            <a:avLst/>
          </a:prstGeom>
          <a:ln w="25400">
            <a:solidFill>
              <a:srgbClr val="27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04048" y="1828800"/>
            <a:ext cx="1539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Tool result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43288" y="2240280"/>
            <a:ext cx="256032" cy="0"/>
          </a:xfrm>
          <a:prstGeom prst="line">
            <a:avLst/>
          </a:prstGeom>
          <a:ln w="25400">
            <a:solidFill>
              <a:srgbClr val="27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99320" y="1828800"/>
            <a:ext cx="1539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Final answer / next step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49039"/>
            <a:ext cx="3108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" y="3749039"/>
            <a:ext cx="73152" cy="1234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3913631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If no tool is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407407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The model can produce the final response.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3749039"/>
            <a:ext cx="3108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26280" y="3749039"/>
            <a:ext cx="73152" cy="1234440"/>
          </a:xfrm>
          <a:prstGeom prst="rect">
            <a:avLst/>
          </a:prstGeom>
          <a:solidFill>
            <a:srgbClr val="27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27448" y="3913631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If a tool is needed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4407407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The SDK invokes the configured tool and feeds the result back into the run.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749039"/>
            <a:ext cx="3108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38160" y="3749039"/>
            <a:ext cx="73152" cy="1234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9328" y="3913631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If risk is 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407407"/>
            <a:ext cx="217950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rPr dirty="0"/>
              <a:t>Guardrails or human review </a:t>
            </a:r>
            <a:endParaRPr lang="en-US" dirty="0"/>
          </a:p>
          <a:p>
            <a:pPr>
              <a:defRPr sz="1250">
                <a:solidFill>
                  <a:srgbClr val="232B34"/>
                </a:solidFill>
              </a:defRPr>
            </a:pPr>
            <a:r>
              <a:rPr dirty="0"/>
              <a:t>can pause/block the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26C78"/>
                </a:solidFill>
              </a:defRPr>
            </a:pPr>
            <a:r>
              <a:t>OpenAI Agents SDK • Beginner Guide    |  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A"/>
                </a:solidFill>
              </a:defRPr>
            </a:pPr>
            <a:r>
              <a:t>8. Use Cases for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C78"/>
                </a:solidFill>
              </a:defRPr>
            </a:pPr>
            <a:r>
              <a:t>Choose a bounded task with clear success criteria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6916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Customer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84248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Retrieve order information, explain policies, create support cases.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2588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325880"/>
            <a:ext cx="73152" cy="1691640"/>
          </a:xfrm>
          <a:prstGeom prst="rect">
            <a:avLst/>
          </a:prstGeom>
          <a:solidFill>
            <a:srgbClr val="27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149047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Developer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1984248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Inspect approved project context, generate tests, explain failures.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32588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1325880"/>
            <a:ext cx="73152" cy="1691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49047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Data Analyst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984248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Query approved data tools, calculate metrics, summarize findings.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8328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383280"/>
            <a:ext cx="73152" cy="16916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54787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041648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Investigate alerts, collect evidence, propose remediation.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38328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60" y="3383280"/>
            <a:ext cx="73152" cy="16916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81728" y="354787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4041648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Search approved sources, compare evidence, produce cited summaries.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38328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75320" y="3383280"/>
            <a:ext cx="73152" cy="1691640"/>
          </a:xfrm>
          <a:prstGeom prst="rect">
            <a:avLst/>
          </a:prstGeom>
          <a:solidFill>
            <a:srgbClr val="27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76488" y="354787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Internal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4041648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Route requests, update systems, and request approval for sensitive actions.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26C78"/>
                </a:solidFill>
              </a:defRPr>
            </a:pPr>
            <a:r>
              <a:t>OpenAI Agents SDK • Beginner Guide    |  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A"/>
                </a:solidFill>
              </a:defRPr>
            </a:pPr>
            <a:r>
              <a:t>9. Implementing an Agent in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C78"/>
                </a:solidFill>
              </a:defRPr>
            </a:pPr>
            <a:r>
              <a:t>Minimal first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6400800" cy="4754880"/>
          </a:xfrm>
          <a:prstGeom prst="roundRect">
            <a:avLst/>
          </a:prstGeom>
          <a:solidFill>
            <a:srgbClr val="1E2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5943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import asyncio</a:t>
            </a:r>
            <a:br/>
            <a:r>
              <a:t>from agents import Agent, Runner</a:t>
            </a:r>
            <a:br/>
            <a:br/>
            <a:r>
              <a:t>agent = Agent(</a:t>
            </a:r>
            <a:br/>
            <a:r>
              <a:t>    name="Study Tutor",</a:t>
            </a:r>
            <a:br/>
            <a:r>
              <a:t>    instructions="Explain concepts clearly for beginners.",</a:t>
            </a:r>
            <a:br/>
            <a:r>
              <a:t>    # model="your-supported-model"</a:t>
            </a:r>
            <a:br/>
            <a:r>
              <a:t>)</a:t>
            </a:r>
            <a:br/>
            <a:br/>
            <a:r>
              <a:t>async def main():</a:t>
            </a:r>
            <a:br/>
            <a:r>
              <a:t>    result = await Runner.run(</a:t>
            </a:r>
            <a:br/>
            <a:r>
              <a:t>        agent,</a:t>
            </a:r>
            <a:br/>
            <a:r>
              <a:t>        "Explain what an AI agent is."</a:t>
            </a:r>
            <a:br/>
            <a:r>
              <a:t>    )</a:t>
            </a:r>
            <a:br/>
            <a:r>
              <a:t>    print(result.final_output)</a:t>
            </a:r>
            <a:br/>
            <a:br/>
            <a:r>
              <a:t>asyncio.run(main())</a:t>
            </a:r>
            <a:br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60920" y="1417320"/>
            <a:ext cx="4069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60920" y="1417320"/>
            <a:ext cx="73152" cy="1325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62088" y="1581912"/>
            <a:ext cx="3703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2088" y="2075688"/>
            <a:ext cx="3703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Define a focused agent and clear instructions.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926080"/>
            <a:ext cx="4069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60920" y="2926080"/>
            <a:ext cx="73152" cy="1325880"/>
          </a:xfrm>
          <a:prstGeom prst="rect">
            <a:avLst/>
          </a:prstGeom>
          <a:solidFill>
            <a:srgbClr val="27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62088" y="3090672"/>
            <a:ext cx="3703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3584448"/>
            <a:ext cx="3703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Run one task and inspect final_output.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434840"/>
            <a:ext cx="4069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60920" y="4434840"/>
            <a:ext cx="73152" cy="1325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62088" y="4599431"/>
            <a:ext cx="3703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5093207"/>
            <a:ext cx="3703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Add one tool, then test again.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26C78"/>
                </a:solidFill>
              </a:defRPr>
            </a:pPr>
            <a:r>
              <a:t>OpenAI Agents SDK • Beginner Guide    |  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A"/>
                </a:solidFill>
              </a:defRPr>
            </a:pPr>
            <a:r>
              <a:t>10. Limitations and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C78"/>
                </a:solidFill>
              </a:defRPr>
            </a:pPr>
            <a:r>
              <a:t>Agents are powerful software components—not magic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</a:defRPr>
            </a:pPr>
            <a:r>
              <a:t>• Model outputs can be incorrect or incomplete; validate important results.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</a:defRPr>
            </a:pPr>
            <a:r>
              <a:t>• Tool permissions determine the blast radius of an agent—use least privilege.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</a:defRPr>
            </a:pPr>
            <a:r>
              <a:t>• Treat external text, files, logs and tool results as potentially untrusted input.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</a:defRPr>
            </a:pPr>
            <a:r>
              <a:t>• Add guardrails and human approval for high-impact actions.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</a:defRPr>
            </a:pPr>
            <a:r>
              <a:t>• Observe and evaluate runs: latency, failures, tool calls, cost and task success.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</a:defRPr>
            </a:pPr>
            <a:r>
              <a:t>• Protect API keys and sensitive data; avoid placing secrets in prompts or source code.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</a:defRPr>
            </a:pPr>
            <a:r>
              <a:t>• Start with a narrow workflow before introducing multi-agent orchestration.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26C78"/>
                </a:solidFill>
              </a:defRPr>
            </a:pPr>
            <a:r>
              <a:t>OpenAI Agents SDK • Beginner Guide    |  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A"/>
                </a:solidFill>
              </a:defRPr>
            </a:pPr>
            <a:r>
              <a:t>11. Summary of 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C78"/>
                </a:solidFill>
              </a:defRPr>
            </a:pPr>
            <a:r>
              <a:t>A simple mental model for beginners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28277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Define agent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05732" y="2240280"/>
            <a:ext cx="256032" cy="0"/>
          </a:xfrm>
          <a:prstGeom prst="line">
            <a:avLst/>
          </a:prstGeom>
          <a:ln w="25400">
            <a:solidFill>
              <a:srgbClr val="27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61764" y="1828800"/>
            <a:ext cx="128277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Give instructions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44537" y="2240280"/>
            <a:ext cx="256032" cy="0"/>
          </a:xfrm>
          <a:prstGeom prst="line">
            <a:avLst/>
          </a:prstGeom>
          <a:ln w="25400">
            <a:solidFill>
              <a:srgbClr val="27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900569" y="1828800"/>
            <a:ext cx="128277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Add tools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83341" y="2240280"/>
            <a:ext cx="256032" cy="0"/>
          </a:xfrm>
          <a:prstGeom prst="line">
            <a:avLst/>
          </a:prstGeom>
          <a:ln w="25400">
            <a:solidFill>
              <a:srgbClr val="27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39373" y="1828800"/>
            <a:ext cx="128277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Run + inspect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22146" y="2240280"/>
            <a:ext cx="256032" cy="0"/>
          </a:xfrm>
          <a:prstGeom prst="line">
            <a:avLst/>
          </a:prstGeom>
          <a:ln w="25400">
            <a:solidFill>
              <a:srgbClr val="27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978178" y="1828800"/>
            <a:ext cx="128277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Add guardrails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60950" y="2240280"/>
            <a:ext cx="256032" cy="0"/>
          </a:xfrm>
          <a:prstGeom prst="line">
            <a:avLst/>
          </a:prstGeom>
          <a:ln w="25400">
            <a:solidFill>
              <a:srgbClr val="27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16982" y="1828800"/>
            <a:ext cx="128277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Evaluate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799755" y="2240280"/>
            <a:ext cx="256032" cy="0"/>
          </a:xfrm>
          <a:prstGeom prst="line">
            <a:avLst/>
          </a:prstGeom>
          <a:ln w="25400">
            <a:solidFill>
              <a:srgbClr val="27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55787" y="1828800"/>
            <a:ext cx="128277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Scale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657600"/>
            <a:ext cx="3154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" y="3657600"/>
            <a:ext cx="73152" cy="1371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5568" y="3822191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Remember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315968"/>
            <a:ext cx="2788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Agents combine a model with instructions, tools and a controlled runtime loop.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657600"/>
            <a:ext cx="3154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26280" y="3657600"/>
            <a:ext cx="73152" cy="1371600"/>
          </a:xfrm>
          <a:prstGeom prst="rect">
            <a:avLst/>
          </a:prstGeom>
          <a:solidFill>
            <a:srgbClr val="27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27448" y="3822191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Build Safely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4315968"/>
            <a:ext cx="2788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Use least privilege, validation, tracing and human approval where needed.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657600"/>
            <a:ext cx="3154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38160" y="3657600"/>
            <a:ext cx="73152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39328" y="3822191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Grow Gradually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4315968"/>
            <a:ext cx="237757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rPr dirty="0"/>
              <a:t>One agent → tools → handoffs →</a:t>
            </a:r>
            <a:endParaRPr lang="en-US" dirty="0"/>
          </a:p>
          <a:p>
            <a:pPr>
              <a:defRPr sz="1250">
                <a:solidFill>
                  <a:srgbClr val="232B34"/>
                </a:solidFill>
              </a:defRPr>
            </a:pPr>
            <a:r>
              <a:rPr dirty="0"/>
              <a:t> guardrails → evaluation.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26C78"/>
                </a:solidFill>
              </a:defRPr>
            </a:pPr>
            <a:r>
              <a:t>OpenAI Agents SDK • Beginner Guide    |  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A"/>
                </a:solidFill>
              </a:defRPr>
            </a:pPr>
            <a:r>
              <a:t>12. Case Study – Customer Support Resolution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C78"/>
                </a:solidFill>
              </a:defRPr>
            </a:pPr>
            <a:r>
              <a:t>Beginner project: automate evidence gathering, not accountability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73152" cy="14173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Business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8"/>
            <a:ext cx="4846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A SaaS company receives repetitive support requests about orders, subscriptions and account policies. Agents need a faster way to gather approved information and draft consistent responses.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234440"/>
            <a:ext cx="73152" cy="1417320"/>
          </a:xfrm>
          <a:prstGeom prst="rect">
            <a:avLst/>
          </a:prstGeom>
          <a:solidFill>
            <a:srgbClr val="27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1399032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892808"/>
            <a:ext cx="527112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rPr dirty="0"/>
              <a:t>Build a support agent that retrieves approved order/policy data,</a:t>
            </a:r>
            <a:endParaRPr lang="en-US" dirty="0"/>
          </a:p>
          <a:p>
            <a:pPr>
              <a:defRPr sz="1250">
                <a:solidFill>
                  <a:srgbClr val="232B34"/>
                </a:solidFill>
              </a:defRPr>
            </a:pPr>
            <a:r>
              <a:rPr dirty="0"/>
              <a:t> summarizes the evidence, drafts a response, and escalates sensitive requests.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154680"/>
            <a:ext cx="1539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Customer request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62200" y="3566160"/>
            <a:ext cx="256032" cy="0"/>
          </a:xfrm>
          <a:prstGeom prst="line">
            <a:avLst/>
          </a:prstGeom>
          <a:ln w="25400">
            <a:solidFill>
              <a:srgbClr val="27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618232" y="3154680"/>
            <a:ext cx="1539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Support 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57472" y="3566160"/>
            <a:ext cx="256032" cy="0"/>
          </a:xfrm>
          <a:prstGeom prst="line">
            <a:avLst/>
          </a:prstGeom>
          <a:ln w="25400">
            <a:solidFill>
              <a:srgbClr val="27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413504" y="3154680"/>
            <a:ext cx="1539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Order/Policy tools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2744" y="3566160"/>
            <a:ext cx="256032" cy="0"/>
          </a:xfrm>
          <a:prstGeom prst="line">
            <a:avLst/>
          </a:prstGeom>
          <a:ln w="25400">
            <a:solidFill>
              <a:srgbClr val="27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08776" y="3154680"/>
            <a:ext cx="1539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AI response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48016" y="3566160"/>
            <a:ext cx="256032" cy="0"/>
          </a:xfrm>
          <a:prstGeom prst="line">
            <a:avLst/>
          </a:prstGeom>
          <a:ln w="25400">
            <a:solidFill>
              <a:srgbClr val="27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04048" y="3154680"/>
            <a:ext cx="1539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Guardrail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543288" y="3566160"/>
            <a:ext cx="256032" cy="0"/>
          </a:xfrm>
          <a:prstGeom prst="line">
            <a:avLst/>
          </a:prstGeom>
          <a:ln w="25400">
            <a:solidFill>
              <a:srgbClr val="27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799320" y="3154680"/>
            <a:ext cx="1539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243A"/>
                </a:solidFill>
              </a:defRPr>
            </a:pPr>
            <a:r>
              <a:t>Human escalation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4348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4434840"/>
            <a:ext cx="73152" cy="1234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8408" y="4599431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Technical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5093207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Python + Agents SDK + function tools + mock order API + policy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44348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89120" y="4434840"/>
            <a:ext cx="73152" cy="1234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90288" y="4599431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Success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5093207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Correct tool selection, grounded answers, safe escalation, low unnecessary handoffs.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0" y="44348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01000" y="4434840"/>
            <a:ext cx="73152" cy="1234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02168" y="4599431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43A"/>
                </a:solidFill>
              </a:defRPr>
            </a:pPr>
            <a:r>
              <a:t>Extension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2168" y="5093207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Add a specialist Billing Agent and use a handoff only when billing ownership is required.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8978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C78"/>
                </a:solidFill>
              </a:defRPr>
            </a:pPr>
            <a:r>
              <a:t>Official references: OpenAI Agents SDK guide and Python quickstart (developers.openai.com)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26C78"/>
                </a:solidFill>
              </a:defRPr>
            </a:pPr>
            <a:r>
              <a:t>OpenAI Agents SDK • Beginner Guide    |  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1186</Words>
  <Application>Microsoft Office PowerPoint</Application>
  <PresentationFormat>Widescreen</PresentationFormat>
  <Paragraphs>170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hp</cp:lastModifiedBy>
  <cp:revision>3</cp:revision>
  <dcterms:created xsi:type="dcterms:W3CDTF">2013-01-27T09:14:16Z</dcterms:created>
  <dcterms:modified xsi:type="dcterms:W3CDTF">2026-09-23T07:57:29Z</dcterms:modified>
  <cp:category/>
</cp:coreProperties>
</file>