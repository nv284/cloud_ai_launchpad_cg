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04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Educational presentation. For current LangGraph concepts, consult the official LangChain/LangGraph documentation: https://docs.langchain.com/oss/python/langgraph/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Educational presentation. For current LangGraph concepts, consult the official LangChain/LangGraph documentation: https://docs.langchain.com/oss/python/langgraph/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Educational presentation. For current LangGraph concepts, consult the official LangChain/LangGraph documentation: https://docs.langchain.com/oss/python/langgraph/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Educational presentation. For current LangGraph concepts, consult the official LangChain/LangGraph documentation: https://docs.langchain.com/oss/python/langgraph/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Educational presentation. For current LangGraph concepts, consult the official LangChain/LangGraph documentation: https://docs.langchain.com/oss/python/langgraph/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Educational presentation. For current LangGraph concepts, consult the official LangChain/LangGraph documentation: https://docs.langchain.com/oss/python/langgraph/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Educational presentation. For current LangGraph concepts, consult the official LangChain/LangGraph documentation: https://docs.langchain.com/oss/python/langgraph/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Educational presentation. For current LangGraph concepts, consult the official LangChain/LangGraph documentation: https://docs.langchain.com/oss/python/langgraph/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Educational presentation. For current LangGraph concepts, consult the official LangChain/LangGraph documentation: https://docs.langchain.com/oss/python/langgraph/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Educational presentation. For current LangGraph concepts, consult the official LangChain/LangGraph documentation: https://docs.langchain.com/oss/python/langgraph/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LangGraph &amp;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CE6F5"/>
                </a:solidFill>
              </a:defRPr>
            </a:pPr>
            <a:r>
              <a:t>A beginner-friendly journey from one AI agent to a team of cooperating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709160"/>
            <a:ext cx="2103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D323C"/>
                </a:solidFill>
              </a:defRPr>
            </a:pPr>
            <a:r>
              <a:t>AI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709160"/>
            <a:ext cx="2103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D323C"/>
                </a:solidFill>
              </a:defRPr>
            </a:pPr>
            <a:r>
              <a:t>LANGGRAPH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4709160"/>
            <a:ext cx="21945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1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D323C"/>
                </a:solidFill>
              </a:defRPr>
            </a:pPr>
            <a:r>
              <a:t>MULTI-AGENT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1. Introduction to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2"/>
                </a:solidFill>
              </a:defRPr>
            </a:pPr>
            <a:r>
              <a:t>A simple way to think about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LangGraph is a framework for building stateful, multi-step AI applications.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It represents an application as connected steps, like a flowchart.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Each step can call an AI model, a tool, or another piece of code.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The workflow can remember information as it moves from step to step.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This makes complex AI behavior easier to control and observe.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8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D323C"/>
                </a:solidFill>
              </a:defRPr>
            </a:pPr>
            <a:r>
              <a:t>START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92440" y="2011680"/>
            <a:ext cx="0" cy="50292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0" y="2560320"/>
            <a:ext cx="2468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Agent / Step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26880" y="2926080"/>
            <a:ext cx="640080" cy="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012680" y="2560320"/>
            <a:ext cx="1554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Tool / Step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789920" y="3291840"/>
            <a:ext cx="0" cy="685799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4023360"/>
            <a:ext cx="2468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1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Next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2. Key Features of LangGraph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State</a:t>
            </a:r>
            <a:br/>
            <a:r>
              <a:t>Shared information carried through the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50876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Nodes</a:t>
            </a:r>
            <a:br/>
            <a:r>
              <a:t>Individual steps that perform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50876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1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Edges</a:t>
            </a:r>
            <a:br/>
            <a:r>
              <a:t>Connections that decide what happens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50876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Loops</a:t>
            </a:r>
            <a:br/>
            <a:r>
              <a:t>Repeat a step when more work is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50876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8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Human Review</a:t>
            </a:r>
            <a:br/>
            <a:r>
              <a:t>Pause for approval when appropriate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These features help developers build workflows that are more controlled than a single prompt.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The same idea can support simple workflows or teams of specialized 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3. What is a Multi-Agent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A Multi-Agent System uses several AI agents instead of one agent doing everything.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Each agent can have a different responsibility or specialty.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Agents may share information, pass work to one another, or ask another agent for help.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The team works toward a common goal.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23444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Research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23444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Analysis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78892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1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Writer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278892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Reviewer 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61120" y="1600200"/>
            <a:ext cx="274320" cy="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01000" y="2011680"/>
            <a:ext cx="0" cy="73152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241280" y="2011680"/>
            <a:ext cx="0" cy="73152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61120" y="3154680"/>
            <a:ext cx="274320" cy="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89520" y="4160520"/>
            <a:ext cx="31089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8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D323C"/>
                </a:solidFill>
              </a:defRPr>
            </a:pPr>
            <a:r>
              <a:t>Shared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4. How LangGraph Fits into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LangGraph can act as the coordinator for a team of agents.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It can decide which agent runs next and what information that agent receives.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The graph can route work, repeat steps, or stop for human approval.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This turns agent collaboration into a visible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25880"/>
            <a:ext cx="2743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8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D323C"/>
                </a:solidFill>
              </a:defRPr>
            </a:pPr>
            <a:r>
              <a:t>LangGraph</a:t>
            </a:r>
            <a:br/>
            <a:r>
              <a:t>Coordinator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017520"/>
            <a:ext cx="1463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Research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7132320" y="2194560"/>
            <a:ext cx="1783080" cy="77724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0" y="3017520"/>
            <a:ext cx="1463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Analyze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15400" y="2194560"/>
            <a:ext cx="45720" cy="77724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058400" y="3017520"/>
            <a:ext cx="1463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1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D323C"/>
                </a:solidFill>
              </a:defRPr>
            </a:pPr>
            <a:r>
              <a:t>Review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15400" y="2194560"/>
            <a:ext cx="1874520" cy="77724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79" y="4572000"/>
            <a:ext cx="2834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Final Answer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0" y="3703320"/>
            <a:ext cx="1783080" cy="82296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0" y="3703320"/>
            <a:ext cx="685800" cy="82296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915400" y="3703320"/>
            <a:ext cx="411480" cy="82296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5. Benefits for Multi-Agent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Specialization — each agent focuses on a smaller job.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Better control — workflow steps and transitions are explicit.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Flexible collaboration — agents can pass work to each other.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Memory / state — useful information can travel through the workflow.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Human oversight — important decisions can include a review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417320"/>
            <a:ext cx="2377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8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ONE BIG TASK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0" y="2148840"/>
            <a:ext cx="0" cy="50292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52360" y="2743200"/>
            <a:ext cx="33832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SPECIALIST AGENTS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0" y="3474720"/>
            <a:ext cx="0" cy="502919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4069080"/>
            <a:ext cx="3657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1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COORDINATED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6. Real-World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23774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Customer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234440"/>
            <a:ext cx="7132320" cy="658368"/>
          </a:xfrm>
          <a:prstGeom prst="roundRect">
            <a:avLst/>
          </a:prstGeom>
          <a:solidFill>
            <a:srgbClr val="239B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D323C"/>
                </a:solidFill>
              </a:defRPr>
            </a:pPr>
            <a:r>
              <a:t>Router → specialist → reviewer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3774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Software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48840"/>
            <a:ext cx="7132320" cy="658368"/>
          </a:xfrm>
          <a:prstGeom prst="roundRect">
            <a:avLst/>
          </a:prstGeom>
          <a:solidFill>
            <a:srgbClr val="239B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D323C"/>
                </a:solidFill>
              </a:defRPr>
            </a:pPr>
            <a:r>
              <a:t>Planner → coder → tester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23774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063240"/>
            <a:ext cx="7132320" cy="658368"/>
          </a:xfrm>
          <a:prstGeom prst="roundRect">
            <a:avLst/>
          </a:prstGeom>
          <a:solidFill>
            <a:srgbClr val="239B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D323C"/>
                </a:solidFill>
              </a:defRPr>
            </a:pPr>
            <a:r>
              <a:t>Searcher → analyst → report writer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77639"/>
            <a:ext cx="23774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977639"/>
            <a:ext cx="7132320" cy="658368"/>
          </a:xfrm>
          <a:prstGeom prst="roundRect">
            <a:avLst/>
          </a:prstGeom>
          <a:solidFill>
            <a:srgbClr val="239B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D323C"/>
                </a:solidFill>
              </a:defRPr>
            </a:pPr>
            <a:r>
              <a:t>Data collector → analyst → compliance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892040"/>
            <a:ext cx="23774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Healthcare*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892040"/>
            <a:ext cx="7132320" cy="658368"/>
          </a:xfrm>
          <a:prstGeom prst="roundRect">
            <a:avLst/>
          </a:prstGeom>
          <a:solidFill>
            <a:srgbClr val="239B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D323C"/>
                </a:solidFill>
              </a:defRPr>
            </a:pPr>
            <a:r>
              <a:t>Information retrieval → summarization → human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2"/>
                </a:solidFill>
              </a:defRPr>
            </a:pPr>
            <a:r>
              <a:t>*High-stakes domains require appropriate validation, privacy, security and human oversight.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7. Challenges in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Coordination: agents may produce conflicting or incomplete work.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Cost and speed: more agents can mean more model calls and longer workflows.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State management: shared information must be kept accurate and understandable.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Security: tools and data access need clear permissions.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Testing: complex paths are harder to test than a simple prompt.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Human oversight: important actions may need approval or escalation.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17320"/>
            <a:ext cx="2377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8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Challenge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052560" y="2103120"/>
            <a:ext cx="0" cy="45720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0" y="2651760"/>
            <a:ext cx="3474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Guardrails + Validation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52560" y="3383280"/>
            <a:ext cx="0" cy="45720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040880" y="3931920"/>
            <a:ext cx="40233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1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Monitoring + Human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8. Future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More agent teams that can plan, delegate and review work.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Stronger workflow controls for reliable enterprise AI.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More human-in-the-loop patterns for sensitive actions.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Better observability: developers will need to understand what each agent did.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Integration with APIs, databases, business systems and other AI tools.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Smaller, specialized agents may work together instead of one large agent doing everything.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280160"/>
            <a:ext cx="1463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LLM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0" y="1965960"/>
            <a:ext cx="0" cy="50292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955279" y="2514600"/>
            <a:ext cx="1463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Agent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418320" y="2834640"/>
            <a:ext cx="640080" cy="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012680" y="2514600"/>
            <a:ext cx="1554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1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Tools /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0" y="3200400"/>
            <a:ext cx="0" cy="59436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384048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8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323C"/>
                </a:solidFill>
              </a:defRPr>
            </a:pPr>
            <a:r>
              <a:t>Governed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t>9. Summary + Case Study: Research Assistant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6751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Key idea: LangGraph helps organize AI work as a stateful graph of steps.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Multi-Agent Systems divide a complex goal among specialized agents.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LangGraph can coordinate those agents, route work and maintain state.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Case study: an enterprise research assistant uses three agents — Researcher, Analyst and Reviewer.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Flow: question → research → analysis → review → final report.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Expected result: a structured report with traceable steps, checks and a human approval point when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14300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8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User Question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0" y="1783080"/>
            <a:ext cx="0" cy="36576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543800" y="219456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3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Researcher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0" y="2834640"/>
            <a:ext cx="0" cy="36576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43800" y="324612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77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Analyst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3886200"/>
            <a:ext cx="0" cy="36576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43800" y="429768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1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Reviewer / Human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4937760"/>
            <a:ext cx="0" cy="365760"/>
          </a:xfrm>
          <a:prstGeom prst="line">
            <a:avLst/>
          </a:prstGeom>
          <a:ln w="25400">
            <a:solidFill>
              <a:srgbClr val="377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43800" y="534924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1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323C"/>
                </a:solidFill>
              </a:defRPr>
            </a:pPr>
            <a:r>
              <a:t>Final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1018</Words>
  <Application>Microsoft Office PowerPoint</Application>
  <PresentationFormat>Widescreen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hp</cp:lastModifiedBy>
  <cp:revision>1</cp:revision>
  <dcterms:created xsi:type="dcterms:W3CDTF">2013-01-27T09:14:16Z</dcterms:created>
  <dcterms:modified xsi:type="dcterms:W3CDTF">2026-09-23T08:11:52Z</dcterms:modified>
  <cp:category/>
</cp:coreProperties>
</file>