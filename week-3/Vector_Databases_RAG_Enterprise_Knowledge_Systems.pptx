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deck based on established concepts in vector search, RAG and enterprise knowledge systems. No company-specific performance claims are presented. For implementation details, consult the documentation of the selected vector database and LLM/RAG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deck based on established concepts in vector search, RAG and enterprise knowledge systems. No company-specific performance claims are presented. For implementation details, consult the documentation of the selected vector database and LLM/RAG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deck based on established concepts in vector search, RAG and enterprise knowledge systems. No company-specific performance claims are presented. For implementation details, consult the documentation of the selected vector database and LLM/RAG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deck based on established concepts in vector search, RAG and enterprise knowledge systems. No company-specific performance claims are presented. For implementation details, consult the documentation of the selected vector database and LLM/RAG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deck based on established concepts in vector search, RAG and enterprise knowledge systems. No company-specific performance claims are presented. For implementation details, consult the documentation of the selected vector database and LLM/RAG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deck based on established concepts in vector search, RAG and enterprise knowledge systems. No company-specific performance claims are presented. For implementation details, consult the documentation of the selected vector database and LLM/RAG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deck based on established concepts in vector search, RAG and enterprise knowledge systems. No company-specific performance claims are presented. For implementation details, consult the documentation of the selected vector database and LLM/RAG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deck based on established concepts in vector search, RAG and enterprise knowledge systems. No company-specific performance claims are presented. For implementation details, consult the documentation of the selected vector database and LLM/RAG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deck based on established concepts in vector search, RAG and enterprise knowledge systems. No company-specific performance claims are presented. For implementation details, consult the documentation of the selected vector database and LLM/RAG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deck based on established concepts in vector search, RAG and enterprise knowledge systems. No company-specific performance claims are presented. For implementation details, consult the documentation of the selected vector database and LLM/RAG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deck based on established concepts in vector search, RAG and enterprise knowledge systems. No company-specific performance claims are presented. For implementation details, consult the documentation of the selected vector database and LLM/RAG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Vector Databases, RAG &amp;</a:t>
            </a:r>
            <a:br/>
            <a:r>
              <a:t>Enterprise Knowledge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461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5"/>
                </a:solidFill>
              </a:defRPr>
            </a:pPr>
            <a:r>
              <a:t>Beginner-friendly foundations for modern AI knowledge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800600"/>
            <a:ext cx="23774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3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D323C"/>
                </a:solidFill>
              </a:defRPr>
            </a:pPr>
            <a:r>
              <a:t>VECTOR 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4800600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346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D323C"/>
                </a:solidFill>
              </a:defRPr>
            </a:pPr>
            <a:r>
              <a:t>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4800600"/>
            <a:ext cx="2834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439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D323C"/>
                </a:solidFill>
              </a:defRPr>
            </a:pPr>
            <a:r>
              <a:t>ENTERPRISE KNOWLEDGE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641"/>
                </a:solidFill>
              </a:defRPr>
            </a:pPr>
            <a:r>
              <a:t>1. Why AI Needs Better Access to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6400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Traditional keyword search mainly matches words; AI applications often need to match meaning.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Company knowledge is spread across documents, tickets, policies, wikis, databases and applications.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Large language models can generate useful text, but they may not know private or newly updated company information.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Vector search + RAG provides a practical pattern for connecting AI to relevant organizational knowledge.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371600"/>
            <a:ext cx="2743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9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D323C"/>
                </a:solidFill>
              </a:defRPr>
            </a:pPr>
            <a:r>
              <a:t>Company Data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869680" y="2103120"/>
            <a:ext cx="0" cy="45720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0" y="2606040"/>
            <a:ext cx="31089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3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D323C"/>
                </a:solidFill>
              </a:defRPr>
            </a:pPr>
            <a:r>
              <a:t>Semantic Retrieval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869680" y="3337560"/>
            <a:ext cx="0" cy="45720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98079" y="3840480"/>
            <a:ext cx="2743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346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D323C"/>
                </a:solidFill>
              </a:defRPr>
            </a:pPr>
            <a:r>
              <a:t>AI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641"/>
                </a:solidFill>
              </a:defRPr>
            </a:pPr>
            <a:r>
              <a:t>2. What is a Vector Database?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82"/>
                </a:solidFill>
              </a:defRPr>
            </a:pPr>
            <a:r>
              <a:t>Definition, purpose and simple mental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852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A vector database stores numerical representations called embeddings.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An embedding represents the meaning or characteristics of data as a vector of numbers.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The database can search for vectors that are close to a query vector.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This enables similarity search across text, images, audio and other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325880"/>
            <a:ext cx="2834640" cy="640080"/>
          </a:xfrm>
          <a:prstGeom prst="roundRect">
            <a:avLst/>
          </a:prstGeom>
          <a:solidFill>
            <a:srgbClr val="2396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Text: "Refund policy"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732520" y="1965960"/>
            <a:ext cx="0" cy="45720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132320" y="2468880"/>
            <a:ext cx="3200400" cy="777240"/>
          </a:xfrm>
          <a:prstGeom prst="roundRect">
            <a:avLst/>
          </a:prstGeom>
          <a:solidFill>
            <a:srgbClr val="346F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Embedding</a:t>
            </a:r>
            <a:br/>
            <a:r>
              <a:t>[0.12, -0.34, ...]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32520" y="3246120"/>
            <a:ext cx="0" cy="41148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132320" y="3703320"/>
            <a:ext cx="3200400" cy="777240"/>
          </a:xfrm>
          <a:prstGeom prst="roundRect">
            <a:avLst/>
          </a:prstGeom>
          <a:solidFill>
            <a:srgbClr val="439B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Nearest Similar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641"/>
                </a:solidFill>
              </a:defRPr>
            </a:pPr>
            <a:r>
              <a:t>3. Key Features of Vector Databases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3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323C"/>
                </a:solidFill>
              </a:defRPr>
            </a:pPr>
            <a:r>
              <a:t>Embeddings</a:t>
            </a:r>
            <a:br/>
            <a:r>
              <a:t>Store vectors representing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41732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46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323C"/>
                </a:solidFill>
              </a:defRPr>
            </a:pPr>
            <a:r>
              <a:t>Similarity Search</a:t>
            </a:r>
            <a:br/>
            <a:r>
              <a:t>Find semantically similar items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41732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439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323C"/>
                </a:solidFill>
              </a:defRPr>
            </a:pPr>
            <a:r>
              <a:t>Metadata</a:t>
            </a:r>
            <a:br/>
            <a:r>
              <a:t>Filter results using attributes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41732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323C"/>
                </a:solidFill>
              </a:defRPr>
            </a:pPr>
            <a:r>
              <a:t>Scalability</a:t>
            </a:r>
            <a:br/>
            <a:r>
              <a:t>Handle large collections of vectors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38360" y="141732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705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323C"/>
                </a:solidFill>
              </a:defRPr>
            </a:pPr>
            <a:r>
              <a:t>Integration</a:t>
            </a:r>
            <a:br/>
            <a:r>
              <a:t>Connect to AI / application workflows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10332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Common pattern: store an embedding alongside the original document chunk and useful metadata.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Examples of vector databases include dedicated vector stores and general databases with vector-search capabilities.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641"/>
                </a:solidFill>
              </a:defRPr>
            </a:pPr>
            <a:r>
              <a:t>4. What is RAG?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82"/>
                </a:solidFill>
              </a:defRPr>
            </a:pPr>
            <a:r>
              <a:t>Retrieval-Augmented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6035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RAG combines two stages: retrieve relevant information, then generate an answer using that information.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The application first searches a knowledge source for useful passages.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Those passages are provided to the language model as context.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The model then produces an answer grounded in the retrieved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965960"/>
            <a:ext cx="14630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9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965960"/>
            <a:ext cx="14630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3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Retrieve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49840" y="1965960"/>
            <a:ext cx="14630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346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Generate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183879" y="2304288"/>
            <a:ext cx="365761" cy="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012680" y="2304288"/>
            <a:ext cx="91440" cy="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0" y="3337560"/>
            <a:ext cx="2926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439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Relevant Context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778240" y="2697480"/>
            <a:ext cx="0" cy="64008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0" y="4572000"/>
            <a:ext cx="2926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0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D323C"/>
                </a:solidFill>
              </a:defRPr>
            </a:pPr>
            <a:r>
              <a:t>Answer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8240" y="4023360"/>
            <a:ext cx="0" cy="50292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641"/>
                </a:solidFill>
              </a:defRPr>
            </a:pPr>
            <a:r>
              <a:t>5. RAG Pipeline: From Documents to Answers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502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46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2331720"/>
            <a:ext cx="1691640" cy="914400"/>
          </a:xfrm>
          <a:prstGeom prst="roundRect">
            <a:avLst/>
          </a:prstGeom>
          <a:solidFill>
            <a:srgbClr val="2396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323C"/>
                </a:solidFill>
              </a:defRPr>
            </a:pPr>
            <a:r>
              <a:t>Load documents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1680" y="2788920"/>
            <a:ext cx="365759" cy="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77439" y="1600200"/>
            <a:ext cx="502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46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59" y="2331720"/>
            <a:ext cx="1691640" cy="914400"/>
          </a:xfrm>
          <a:prstGeom prst="roundRect">
            <a:avLst/>
          </a:prstGeom>
          <a:solidFill>
            <a:srgbClr val="2396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323C"/>
                </a:solidFill>
              </a:defRPr>
            </a:pPr>
            <a:r>
              <a:t>Split into chunks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86200" y="2788920"/>
            <a:ext cx="365759" cy="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51959" y="1600200"/>
            <a:ext cx="502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46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79" y="2331720"/>
            <a:ext cx="1691640" cy="914400"/>
          </a:xfrm>
          <a:prstGeom prst="roundRect">
            <a:avLst/>
          </a:prstGeom>
          <a:solidFill>
            <a:srgbClr val="2396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323C"/>
                </a:solidFill>
              </a:defRPr>
            </a:pPr>
            <a:r>
              <a:t>Create embeddings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719" y="2788920"/>
            <a:ext cx="365760" cy="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26479" y="1600200"/>
            <a:ext cx="502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46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599" y="2331720"/>
            <a:ext cx="1691640" cy="914400"/>
          </a:xfrm>
          <a:prstGeom prst="roundRect">
            <a:avLst/>
          </a:prstGeom>
          <a:solidFill>
            <a:srgbClr val="2396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323C"/>
                </a:solidFill>
              </a:defRPr>
            </a:pPr>
            <a:r>
              <a:t>Store in vector DB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35240" y="2788920"/>
            <a:ext cx="365760" cy="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01000" y="1600200"/>
            <a:ext cx="502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46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2331720"/>
            <a:ext cx="1691640" cy="914400"/>
          </a:xfrm>
          <a:prstGeom prst="roundRect">
            <a:avLst/>
          </a:prstGeom>
          <a:solidFill>
            <a:srgbClr val="439B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323C"/>
                </a:solidFill>
              </a:defRPr>
            </a:pPr>
            <a:r>
              <a:t>Retrieve relevant chunks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509760" y="2788920"/>
            <a:ext cx="365760" cy="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875520" y="1600200"/>
            <a:ext cx="502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46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2331720"/>
            <a:ext cx="1691640" cy="914400"/>
          </a:xfrm>
          <a:prstGeom prst="roundRect">
            <a:avLst/>
          </a:prstGeom>
          <a:solidFill>
            <a:srgbClr val="439B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323C"/>
                </a:solidFill>
              </a:defRPr>
            </a:pPr>
            <a:r>
              <a:t>Generate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0624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Important design idea: retrieval quality directly affects the context available to the generator.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Good RAG systems also consider permissions, metadata, source quality, evaluation and monitoring.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641"/>
                </a:solidFill>
              </a:defRPr>
            </a:pPr>
            <a:r>
              <a:t>6. What is an Enterprise Knowledge System?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A system that helps an organization collect, organize, find and use business knowledge.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Knowledge can include policies, procedures, product information, technical documents, FAQs and support history.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The goal is to make trusted information easier for employees and applications to use.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AI can provide a conversational interface, but enterprise controls still matter.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143000"/>
            <a:ext cx="1737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3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Documents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1143000"/>
            <a:ext cx="1737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346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Wikis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148840"/>
            <a:ext cx="1737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439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Tickets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2148840"/>
            <a:ext cx="1737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Databases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183879" y="2788920"/>
            <a:ext cx="685801" cy="54864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418320" y="2788920"/>
            <a:ext cx="731520" cy="54864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52360" y="3383280"/>
            <a:ext cx="34290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9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D323C"/>
                </a:solidFill>
              </a:defRPr>
            </a:pPr>
            <a:r>
              <a:t>Enterprise Knowledge Layer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0" y="4114800"/>
            <a:ext cx="0" cy="45720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0" y="4617720"/>
            <a:ext cx="36576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705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Search / RAG / AI 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641"/>
                </a:solidFill>
              </a:defRPr>
            </a:pPr>
            <a:r>
              <a:t>7. Integrating Vector DB + RAG + Enterprise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6217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Enterprise sources provide the original knowledge.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A data pipeline prepares and embeds the content.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The vector database supports semantic retrieval.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RAG passes selected context to the language model.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The application returns an answer with appropriate source references and access controls.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1188720"/>
            <a:ext cx="1554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3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D323C"/>
                </a:solidFill>
              </a:defRPr>
            </a:pPr>
            <a:r>
              <a:t>Enterprise 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188720"/>
            <a:ext cx="1554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346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D323C"/>
                </a:solidFill>
              </a:defRPr>
            </a:pPr>
            <a:r>
              <a:t>Embedding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2423160"/>
            <a:ext cx="1554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439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D323C"/>
                </a:solidFill>
              </a:defRPr>
            </a:pPr>
            <a:r>
              <a:t>Vector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611880"/>
            <a:ext cx="1554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D323C"/>
                </a:solidFill>
              </a:defRPr>
            </a:pPr>
            <a:r>
              <a:t>Retriever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3611880"/>
            <a:ext cx="1554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705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D323C"/>
                </a:solidFill>
              </a:defRPr>
            </a:pPr>
            <a:r>
              <a:t>LLM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800600"/>
            <a:ext cx="1554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9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D323C"/>
                </a:solidFill>
              </a:defRPr>
            </a:pPr>
            <a:r>
              <a:t>Answer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80960" y="1828800"/>
            <a:ext cx="1463040" cy="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01200" y="1828800"/>
            <a:ext cx="457200" cy="59436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509760" y="3063240"/>
            <a:ext cx="548640" cy="50292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458200" y="3931920"/>
            <a:ext cx="274320" cy="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2400" y="4251960"/>
            <a:ext cx="822960" cy="50292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641"/>
                </a:solidFill>
              </a:defRPr>
            </a:pPr>
            <a:r>
              <a:t>8. Enterprise Benefits &amp;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Faster access to organizational knowledge.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More relevant answers because responses use retrieved context.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Reduced manual searching across multiple repositories.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Reusable architecture for assistants, support tools and internal applications.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Security principle: retrieve only information the user is authorized to access.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Quality principle: evaluate retrieval and generation separately.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234440"/>
            <a:ext cx="22860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3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Knowledge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098280" y="1874519"/>
            <a:ext cx="0" cy="548641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543800" y="2468880"/>
            <a:ext cx="31089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9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Secure Retrieval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098280" y="3154680"/>
            <a:ext cx="0" cy="50292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635240" y="3703320"/>
            <a:ext cx="2926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439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Grounded Answer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098280" y="4389120"/>
            <a:ext cx="0" cy="50292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543800" y="4937760"/>
            <a:ext cx="31089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0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Monitor &amp; Improve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641"/>
                </a:solidFill>
              </a:defRPr>
            </a:pPr>
            <a:r>
              <a:t>9. Case Study: Enterprise IT Support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67208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D323C"/>
                </a:solidFill>
              </a:defRPr>
            </a:pPr>
            <a:r>
              <a:t>Scenario: employees ask questions about internal IT policies, application procedures and troubleshooting guides.</a:t>
            </a:r>
          </a:p>
          <a:p>
            <a:pPr>
              <a:spcAft>
                <a:spcPts val="1000"/>
              </a:spcAft>
              <a:defRPr sz="1500">
                <a:solidFill>
                  <a:srgbClr val="2D323C"/>
                </a:solidFill>
              </a:defRPr>
            </a:pPr>
            <a:r>
              <a:t>Knowledge sources: approved policy documents, FAQs, runbooks and resolved support articles.</a:t>
            </a:r>
          </a:p>
          <a:p>
            <a:pPr>
              <a:spcAft>
                <a:spcPts val="1000"/>
              </a:spcAft>
              <a:defRPr sz="1500">
                <a:solidFill>
                  <a:srgbClr val="2D323C"/>
                </a:solidFill>
              </a:defRPr>
            </a:pPr>
            <a:r>
              <a:t>Vector database: stores embeddings of approved document chunks with metadata such as department and document version.</a:t>
            </a:r>
          </a:p>
          <a:p>
            <a:pPr>
              <a:spcAft>
                <a:spcPts val="1000"/>
              </a:spcAft>
              <a:defRPr sz="1500">
                <a:solidFill>
                  <a:srgbClr val="2D323C"/>
                </a:solidFill>
              </a:defRPr>
            </a:pPr>
            <a:r>
              <a:t>RAG: retrieves relevant chunks before generating the response.</a:t>
            </a:r>
          </a:p>
          <a:p>
            <a:pPr>
              <a:spcAft>
                <a:spcPts val="1000"/>
              </a:spcAft>
              <a:defRPr sz="1500">
                <a:solidFill>
                  <a:srgbClr val="2D323C"/>
                </a:solidFill>
              </a:defRPr>
            </a:pPr>
            <a:r>
              <a:t>Enterprise controls: enforce user permissions, show supporting sources, log interactions and route uncertain cases to support staff.</a:t>
            </a:r>
          </a:p>
          <a:p>
            <a:pPr>
              <a:spcAft>
                <a:spcPts val="1000"/>
              </a:spcAft>
              <a:defRPr sz="1500">
                <a:solidFill>
                  <a:srgbClr val="2D323C"/>
                </a:solidFill>
              </a:defRPr>
            </a:pPr>
            <a:r>
              <a:t>Expected outcome: employees get faster access to relevant information while the organization keeps control over its knowledge.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097280"/>
            <a:ext cx="31089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9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323C"/>
                </a:solidFill>
              </a:defRPr>
            </a:pPr>
            <a:r>
              <a:t>Employee Question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89720" y="1691640"/>
            <a:ext cx="0" cy="32004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635240" y="2057400"/>
            <a:ext cx="31089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0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323C"/>
                </a:solidFill>
              </a:defRPr>
            </a:pPr>
            <a:r>
              <a:t>Permission Check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89720" y="2651760"/>
            <a:ext cx="0" cy="32004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635240" y="3017520"/>
            <a:ext cx="31089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3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323C"/>
                </a:solidFill>
              </a:defRPr>
            </a:pPr>
            <a:r>
              <a:t>Vector Search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89720" y="3611880"/>
            <a:ext cx="0" cy="32004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635240" y="3977639"/>
            <a:ext cx="31089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346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323C"/>
                </a:solidFill>
              </a:defRPr>
            </a:pPr>
            <a:r>
              <a:t>RAG + LLM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89720" y="4572000"/>
            <a:ext cx="0" cy="32004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635240" y="4937760"/>
            <a:ext cx="31089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439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323C"/>
                </a:solidFill>
              </a:defRPr>
            </a:pPr>
            <a:r>
              <a:t>Answer + 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641"/>
                </a:solidFill>
              </a:defRPr>
            </a:pPr>
            <a:r>
              <a:t>10. Summary &amp; Beginner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t>Vector database → stores embeddings and enables similarity search.</a:t>
            </a:r>
          </a:p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t>RAG → retrieves relevant knowledge and gives it to the language model as context.</a:t>
            </a:r>
          </a:p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t>Enterprise knowledge system → organizes business knowledge so people and applications can use it.</a:t>
            </a:r>
          </a:p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t>Together → Vector DB + Retrieval + LLM can form a practical enterprise AI knowledge architecture.</a:t>
            </a:r>
          </a:p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t>Remember the simple flow: Data → Embeddings → Vector Search → Context → LLM → Answer.</a:t>
            </a:r>
          </a:p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t>For production: add access control, source tracking, evaluation, monitoring and human escalation where appropriate.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5257800"/>
            <a:ext cx="11887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3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DATA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40280" y="5559552"/>
            <a:ext cx="502920" cy="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88920" y="5257800"/>
            <a:ext cx="13716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346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VECTOR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60520" y="5559552"/>
            <a:ext cx="502920" cy="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709160" y="5257800"/>
            <a:ext cx="13716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439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RETRIEVE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5559552"/>
            <a:ext cx="502920" cy="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629400" y="5257800"/>
            <a:ext cx="13716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0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CONTEXT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01000" y="5559552"/>
            <a:ext cx="502920" cy="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549640" y="5257800"/>
            <a:ext cx="1097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705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LLM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46920" y="5559552"/>
            <a:ext cx="502920" cy="0"/>
          </a:xfrm>
          <a:prstGeom prst="line">
            <a:avLst/>
          </a:prstGeom>
          <a:ln w="25400">
            <a:solidFill>
              <a:srgbClr val="346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95560" y="5257800"/>
            <a:ext cx="12801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9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