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5F7FA"/>
                </a:solidFill>
              </a:defRPr>
            </a:pPr>
            <a:r>
              <a:t>Fundamentals of Agentic AI</a:t>
            </a:r>
          </a:p>
          <a:p>
            <a:pPr>
              <a:defRPr sz="2200">
                <a:solidFill>
                  <a:srgbClr val="B4BED0"/>
                </a:solidFill>
              </a:defRPr>
            </a:pPr>
            <a:r>
              <a:t>From AI assistants to autonomous goal-driven systems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05840" y="3749039"/>
            <a:ext cx="2011680" cy="9144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GOAL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3749039"/>
            <a:ext cx="2011680" cy="9144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REASON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749039"/>
            <a:ext cx="2011680" cy="9144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3749039"/>
            <a:ext cx="2011680" cy="9144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LEARN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4206240"/>
            <a:ext cx="64008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69280" y="4206240"/>
            <a:ext cx="64008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321040" y="4206240"/>
            <a:ext cx="64008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Introduction to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What makes an AI system 'agentic'?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Agentic AI refers to AI systems designed to pursue goals through reasoning, planning and actions.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Agents can use tools, observe results and adapt their next step.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The key shift: from generating a response to completing a task.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Useful when workflows are multi-step, dynamic and tool-driven.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192024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USER 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75120" y="2743200"/>
            <a:ext cx="192024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35440" y="2743200"/>
            <a:ext cx="192024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TOOLS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79" y="4069080"/>
            <a:ext cx="192024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RESULT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286000"/>
            <a:ext cx="0" cy="45720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3154680"/>
            <a:ext cx="64008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8869680" y="3566160"/>
            <a:ext cx="365760" cy="50292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Historical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From rule-based programs to goal-driven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1950s–70s: symbolic AI, search and rule-based systems.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1980s–2000s: machine learning improved prediction from data.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2010s: deep learning enabled perception, language and autonomous systems.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2020s: foundation models + tools + workflows accelerated agentic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554480"/>
            <a:ext cx="15544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Symbolic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554480"/>
            <a:ext cx="15544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Machine Learning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3108960"/>
            <a:ext cx="15544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Deep Learning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3108960"/>
            <a:ext cx="155448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Foundation Models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Core Principles of Agentic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The building blocks of intelligent agency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669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Goal orientation — work toward an explicit outcome.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Autonomy — choose actions within defined permissions.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Reasoning &amp; planning — decompose complex objectives.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Tool use — interact with APIs, databases, browsers or code.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Feedback — evaluate outcomes and re-plan when needed.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Memory &amp; context — retain task-relevant information.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4630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Goal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Reason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8346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Plan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28346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062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Observe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4206240"/>
            <a:ext cx="164592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Adapt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The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A practical mental model for how an agent operates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Goal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103120" y="2697480"/>
            <a:ext cx="502919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2606039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Reason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77639" y="2697480"/>
            <a:ext cx="50292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80559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Plan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852159" y="2697480"/>
            <a:ext cx="50292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55079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26679" y="2697480"/>
            <a:ext cx="502921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29600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Observe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601200" y="2697480"/>
            <a:ext cx="502920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04120" y="2286000"/>
            <a:ext cx="1371600" cy="82296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Evaluate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4023360"/>
            <a:ext cx="2743200" cy="77724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If needed → RE-PLAN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80760" y="3108960"/>
            <a:ext cx="1417319" cy="91440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05840" y="51663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Example: a coding agent reads a failing test, inspects code, proposes a fix, runs the test and retries if it still fails.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Tools, Function Calling &amp;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Agents become useful when they can access the outside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Tool calling: APIs, databases, web search, file systems, code execution.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RAG: retrieve trusted enterprise knowledge before reasoning.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Permissions determine what an agent is allowed to do.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Tool results become observations that guide the next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13716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7432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Web/Search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69680" y="27432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Code Runner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4114800"/>
            <a:ext cx="18288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Vector DB /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Planning &amp; Task 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Turning one large objective into executable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Break the goal into smaller tasks.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Run independent tasks in parallel where appropriate.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Track state and dependencies.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Validate intermediate results.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Re-plan when an assumption or tool result changes.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371600"/>
            <a:ext cx="2286000" cy="77724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Prepare Market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743200"/>
            <a:ext cx="210312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Collect data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7086600" y="2148840"/>
            <a:ext cx="548640" cy="59436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778240" y="2743200"/>
            <a:ext cx="210312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Clean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35240" y="2148840"/>
            <a:ext cx="2194560" cy="59436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035040" y="3977639"/>
            <a:ext cx="210312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Analyze trends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7086600" y="2148840"/>
            <a:ext cx="548640" cy="1828799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778240" y="3977639"/>
            <a:ext cx="210312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5F7FA"/>
                </a:solidFill>
              </a:defRPr>
            </a:pPr>
            <a:r>
              <a:t>Create charts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635240" y="2148840"/>
            <a:ext cx="2194560" cy="1828799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Single-Agent vs Multi-Agent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Choosing the right level of collaboration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Single agent: one orchestrator handles the workflow; simpler to build and govern.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Multi-agent: specialized agents collaborate under an orchestrator.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Use specialization when tasks require distinct skills or tools.</a:t>
            </a:r>
          </a:p>
          <a:p>
            <a:pPr>
              <a:spcAft>
                <a:spcPts val="1200"/>
              </a:spcAft>
              <a:defRPr sz="1800">
                <a:solidFill>
                  <a:srgbClr val="F5F7FA"/>
                </a:solidFill>
              </a:defRPr>
            </a:pPr>
            <a:r>
              <a:t>• Add agents only when the coordination value outweighs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2011680" cy="77724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Single Agent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463040"/>
            <a:ext cx="2011680" cy="77724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Multi-Agent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92608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Developer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92608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Tester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292608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4389120"/>
            <a:ext cx="292608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Manager / Orchestrator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78040" y="3611880"/>
            <a:ext cx="1600200" cy="77724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778240" y="3611880"/>
            <a:ext cx="228600" cy="77724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8778240" y="3611880"/>
            <a:ext cx="2057400" cy="77724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Where agentic workflows can create value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Software 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Code → test → debug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59" y="14630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DevOps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59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Alert → diagnose → remediate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4630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Customer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2860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Classify → retrieve → resolve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Data Analytics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Query → analyze → explain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32918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Finance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Research → assess →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3291840"/>
            <a:ext cx="320040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7FA"/>
                </a:solidFill>
              </a:defRPr>
            </a:pPr>
            <a:r>
              <a:t>Learning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114800"/>
            <a:ext cx="3200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B4BED0"/>
                </a:solidFill>
              </a:defRPr>
            </a:pPr>
            <a:r>
              <a:t>Assess → personalize → coach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Challenges, Ethics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More autonomy requires stronger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Hallucinations and incorrect decisions.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Excessive permissions or unsafe tool use.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Privacy, security and sensitive-data exposure.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Unpredictable multi-step behavior and cost.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Need for human approval on high-impact actions.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Observability, audit logs, evaluations and rollback mechanisms.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1463040"/>
            <a:ext cx="3108960" cy="64008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Guardrails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468880"/>
            <a:ext cx="3108960" cy="64008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Human Approval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3474720"/>
            <a:ext cx="3108960" cy="64008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Least Privilege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4480560"/>
            <a:ext cx="3108960" cy="64008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7FA"/>
                </a:solidFill>
              </a:defRPr>
            </a:pPr>
            <a:r>
              <a:t>Audit Logs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Future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Where agentic AI is heading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00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Agentic coding and autonomous software engineering workflows.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Multi-agent orchestration for enterprise processes.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Standardized tool/context interfaces such as MCP-style ecosystems.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Smaller, specialized models combined with stronger orchestration.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Agent evaluation, observability and governance becoming core engineering disciplines.</a:t>
            </a:r>
          </a:p>
          <a:p>
            <a:pPr>
              <a:spcAft>
                <a:spcPts val="1200"/>
              </a:spcAft>
              <a:defRPr sz="1600">
                <a:solidFill>
                  <a:srgbClr val="F5F7FA"/>
                </a:solidFill>
              </a:defRPr>
            </a:pPr>
            <a:r>
              <a:t>• Human-agent collaboration rather than full autonomy for many high-risk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371600"/>
            <a:ext cx="192024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AI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2743200"/>
            <a:ext cx="192024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4114800"/>
            <a:ext cx="1920240" cy="73152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Agent Ecosystem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41080" y="2103120"/>
            <a:ext cx="0" cy="64008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41080" y="3474720"/>
            <a:ext cx="0" cy="64008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5F7FA"/>
                </a:solidFill>
              </a:defRPr>
            </a:pPr>
            <a:r>
              <a:t>Practical Case Study: Agentic AI for DevOps Incident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BED0"/>
                </a:solidFill>
              </a:defRPr>
            </a:pPr>
            <a:r>
              <a:t>Final case study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5778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Scenario: a company operates many microservices and receives a production alert.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The agent investigates monitoring data, logs, recent deployments and code changes.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It identifies a probable root cause and proposes remediation.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For high-impact actions, a human approves before execution.</a:t>
            </a:r>
          </a:p>
          <a:p>
            <a:pPr>
              <a:spcAft>
                <a:spcPts val="1200"/>
              </a:spcAft>
              <a:defRPr sz="1700">
                <a:solidFill>
                  <a:srgbClr val="F5F7FA"/>
                </a:solidFill>
              </a:defRPr>
            </a:pPr>
            <a:r>
              <a:t>• The agent validates recovery and records the complete audit trail.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ALERT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371600"/>
            <a:ext cx="19202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INVESTIGATE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3464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DIAGNOSE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834640"/>
            <a:ext cx="19202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HUMAN APPROVAL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155448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46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REMEDIATE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297680"/>
            <a:ext cx="1920240" cy="685800"/>
          </a:xfrm>
          <a:prstGeom prst="roundRect">
            <a:avLst/>
          </a:prstGeom>
          <a:solidFill>
            <a:srgbClr val="1B2234"/>
          </a:solidFill>
          <a:ln>
            <a:solidFill>
              <a:srgbClr val="9B69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F7FA"/>
                </a:solidFill>
              </a:defRPr>
            </a:pPr>
            <a:r>
              <a:t>VALIDATE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55279" y="1719072"/>
            <a:ext cx="457201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7955279" y="2057400"/>
            <a:ext cx="1417321" cy="77724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955279" y="3182112"/>
            <a:ext cx="457201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7955279" y="3520440"/>
            <a:ext cx="1417321" cy="77724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955279" y="4645152"/>
            <a:ext cx="457201" cy="0"/>
          </a:xfrm>
          <a:prstGeom prst="line">
            <a:avLst/>
          </a:prstGeom>
          <a:ln w="31750">
            <a:solidFill>
              <a:srgbClr val="469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155680" y="644652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B4BED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