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7FA"/>
                </a:solidFill>
              </a:defRPr>
            </a:pPr>
            <a:r>
              <a:t>LangChain Fundamentals</a:t>
            </a:r>
          </a:p>
          <a:p>
            <a:pPr>
              <a:defRPr sz="2000">
                <a:solidFill>
                  <a:srgbClr val="B4BED0"/>
                </a:solidFill>
              </a:defRPr>
            </a:pPr>
            <a:r>
              <a:t>Building LLM-powered applications with models, prompts, tools and workflows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3840480"/>
            <a:ext cx="20116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08960" y="4251960"/>
            <a:ext cx="54864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0" y="3840480"/>
            <a:ext cx="20116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9" y="4251960"/>
            <a:ext cx="548641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0" y="3840480"/>
            <a:ext cx="20116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TOOLS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0" y="4251960"/>
            <a:ext cx="54864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778239" y="3840480"/>
            <a:ext cx="20116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Introduction to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A framework for connecting LLMs to application logic and external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LangChain helps developers build applications around large language models (LLMs).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It provides reusable building blocks for prompts, models, tools, retrieval and workflows.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It is useful when an application needs more than a single LLM call.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Think of it as application plumbing around an 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146304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5448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LANGCHAIN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132588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108960"/>
            <a:ext cx="132588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3108960"/>
            <a:ext cx="132588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920240"/>
            <a:ext cx="36576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132320" y="2286000"/>
            <a:ext cx="2011680" cy="82296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732520" y="2286000"/>
            <a:ext cx="411480" cy="82296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2286000"/>
            <a:ext cx="1188720" cy="82296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LangChain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Start with the pieces before building full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Models — connect to chat or completion models.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Prompts — create reusable instructions and templates.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Output parsers — turn model output into structured data.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Retrievers — fetch relevant information from a knowledge source.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Tools — let the application call APIs, databases or code.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Runnable workflows — connect steps into an executable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17320"/>
            <a:ext cx="18288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17320"/>
            <a:ext cx="18288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651760"/>
            <a:ext cx="18288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651760"/>
            <a:ext cx="18288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Retriever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886200"/>
            <a:ext cx="18288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886200"/>
            <a:ext cx="18288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Core Concept: Chains &amp; Runnables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Connect multiple processing steps into a predictable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A chain is a sequence of operations where one step feeds the next.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Runnables provide a composable way to connect operations.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Useful for repeatable workflows such as summarize → translate → format.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Keep deterministic steps separate from agent decisions where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377440"/>
            <a:ext cx="91440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040880" y="2724912"/>
            <a:ext cx="2286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269480" y="2377440"/>
            <a:ext cx="91440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Prompt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83879" y="2724912"/>
            <a:ext cx="228601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2377440"/>
            <a:ext cx="91440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LLM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2724912"/>
            <a:ext cx="2286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55480" y="2377440"/>
            <a:ext cx="91440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Parser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69880" y="2724912"/>
            <a:ext cx="2286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698480" y="2377440"/>
            <a:ext cx="91440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7FA"/>
                </a:solidFill>
              </a:defRPr>
            </a:pPr>
            <a:r>
              <a:t>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493776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Example: Support ticket → summarize → classify → generate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Core Concept: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Agents decide which action to take instead of following one fixed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An agent receives a goal and chooses tools/actions based on the current situation.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Typical loop: reason → call tool → observe result → decide next step.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Agents are useful for open-ended or multi-step tasks.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Use clear tool descriptions, permissions and stopping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34640"/>
            <a:ext cx="13258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834640"/>
            <a:ext cx="13258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834640"/>
            <a:ext cx="13258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Database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086600" y="2148840"/>
            <a:ext cx="2377440" cy="68580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686800" y="2148840"/>
            <a:ext cx="777240" cy="68580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64040" y="2148840"/>
            <a:ext cx="822960" cy="68580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4160520"/>
            <a:ext cx="27432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Observe → decide → act again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Core Concept: Memory &amp;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Give the application access to useful context beyond the current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Conversation memory can retain selected interaction context.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RAG retrieves relevant documents before the model answers.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Typical pipeline: load → split → embed → store → retrieve → generate.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For enterprise apps, retrieval helps ground responses in approved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423160"/>
            <a:ext cx="82296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</a:defRPr>
            </a:pPr>
            <a:r>
              <a:t>Docs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6560" y="2779776"/>
            <a:ext cx="164592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31152" y="2423160"/>
            <a:ext cx="82296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</a:defRPr>
            </a:pPr>
            <a:r>
              <a:t>Chunks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54112" y="2779776"/>
            <a:ext cx="164592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18704" y="2423160"/>
            <a:ext cx="82296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</a:defRPr>
            </a:pPr>
            <a:r>
              <a:t>Embeddings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41664" y="2779776"/>
            <a:ext cx="164592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06256" y="2423160"/>
            <a:ext cx="82296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</a:defRPr>
            </a:pPr>
            <a:r>
              <a:t>Vector Store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29216" y="2779776"/>
            <a:ext cx="164592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93808" y="2423160"/>
            <a:ext cx="82296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</a:defRPr>
            </a:pPr>
            <a:r>
              <a:t>Retriever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16768" y="2779776"/>
            <a:ext cx="164592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881360" y="2423160"/>
            <a:ext cx="82296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F7FA"/>
                </a:solidFill>
              </a:defRPr>
            </a:pPr>
            <a: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Advanced: Structured Output &amp; Tool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Make LLM interactions easier for software to consume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Structured output maps model responses into schemas or typed objects.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Tool calling lets the model request a specific function with arguments.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Validate inputs and outputs before executing sensitive operations.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Pattern: LLM chooses action → application validates → tool executes.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63040"/>
            <a:ext cx="155448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0"/>
            <a:ext cx="201168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STRUCTURED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164592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VALIDATOR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97180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TOOL /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46720" y="1828800"/>
            <a:ext cx="64008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223760" y="2194560"/>
            <a:ext cx="2468880" cy="77724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3337560"/>
            <a:ext cx="64008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Advanced: Custom Agents &amp; Dynamic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Move from fixed pipelines to adaptive application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Custom agents combine domain instructions, tools, memory and decision logic.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Dynamic workflows select different paths based on inputs or tool results.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Human-in-the-loop can pause execution for approval.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Tracing and evaluation help understand and improve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17320"/>
            <a:ext cx="137160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20116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ROUTER /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80360"/>
            <a:ext cx="123444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Path A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040880" y="2103120"/>
            <a:ext cx="2194560" cy="77724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909560" y="2880360"/>
            <a:ext cx="123444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Path B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549640" y="2103120"/>
            <a:ext cx="685800" cy="77724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18320" y="2880360"/>
            <a:ext cx="123444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Path 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0" y="2103120"/>
            <a:ext cx="822960" cy="77724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4251960"/>
            <a:ext cx="25603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RESULT +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Where LangChain-style application patterns are useful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RAG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76272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ED0"/>
                </a:solidFill>
              </a:defRPr>
            </a:pPr>
            <a:r>
              <a:t>Answer from company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2004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Data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176272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ED0"/>
                </a:solidFill>
              </a:defRPr>
            </a:pPr>
            <a:r>
              <a:t>Ask questions over structured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004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Customer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76272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ED0"/>
                </a:solidFill>
              </a:defRPr>
            </a:pPr>
            <a:r>
              <a:t>Retrieve policy + draft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32004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Research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42232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ED0"/>
                </a:solidFill>
              </a:defRPr>
            </a:pPr>
            <a:r>
              <a:t>Search, summarize and cite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337560"/>
            <a:ext cx="32004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Developer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142232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ED0"/>
                </a:solidFill>
              </a:defRPr>
            </a:pPr>
            <a:r>
              <a:t>Inspect code + call developer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337560"/>
            <a:ext cx="320040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Workflow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42232"/>
            <a:ext cx="3200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ED0"/>
                </a:solidFill>
              </a:defRPr>
            </a:pPr>
            <a:r>
              <a:t>Connect LLM decisions to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Practical Example: RAG Knowledge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A beginner-friendly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User asks: “What is our expense reimbursement policy?”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Retriever finds relevant policy sections.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LLM uses retrieved context to draft an answer.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Application returns the answer with supporting source references.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If confidence or retrieval quality is poor, route to a human.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423160"/>
            <a:ext cx="86868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Question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12280" y="2779776"/>
            <a:ext cx="18288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95160" y="2423160"/>
            <a:ext cx="86868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Retrieve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2779776"/>
            <a:ext cx="18288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46720" y="2423160"/>
            <a:ext cx="86868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2779776"/>
            <a:ext cx="18288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98280" y="2423160"/>
            <a:ext cx="86868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66959" y="2779776"/>
            <a:ext cx="182881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49840" y="2423160"/>
            <a:ext cx="868680" cy="713232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What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• LangChain provides building blocks for LLM-powered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• Start simple: prompt + model + output.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• Add retrieval when external knowledge is needed.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• Use tools and agents for tasks requiring actions or dynamic decisions.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• Design for validation, observability, security and cost from the beginning.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37160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74320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11480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7FA"/>
                </a:solidFill>
              </a:defRPr>
            </a:pPr>
            <a: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Case Study: Real-Time IT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Practical LangChain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Employees submit IT issues through a support portal.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Workflow classifies the issue, retrieves runbooks and checks approved system APIs.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An agent selects tools for diagnosis and drafts the recommended resolution.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High-risk actions require human approval before execution.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System records tool calls, outcomes and final resolution for audit and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983480"/>
            <a:ext cx="1417320" cy="658368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Ticket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5312664"/>
            <a:ext cx="4572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4983480"/>
            <a:ext cx="1417320" cy="658368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Classify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5312664"/>
            <a:ext cx="4572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4983480"/>
            <a:ext cx="1417320" cy="658368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Retrieve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5312664"/>
            <a:ext cx="4572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4983480"/>
            <a:ext cx="1417320" cy="658368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Agent + Tools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5312664"/>
            <a:ext cx="457199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38159" y="4983480"/>
            <a:ext cx="1417320" cy="658368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Approve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55480" y="5312664"/>
            <a:ext cx="457200" cy="0"/>
          </a:xfrm>
          <a:prstGeom prst="line">
            <a:avLst/>
          </a:prstGeom>
          <a:ln w="2540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4983480"/>
            <a:ext cx="1417320" cy="658368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F7FA"/>
                </a:solidFill>
              </a:defRPr>
            </a:pPr>
            <a:r>
              <a:t>Resolve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1554480"/>
            <a:ext cx="7589520" cy="9144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Case study question: Design the LangChain architecture, tools, RAG/memory and guardrails.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